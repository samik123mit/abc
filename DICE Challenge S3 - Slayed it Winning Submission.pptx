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2"/>
    <p:sldId id="262" r:id="rId13"/>
    <p:sldId id="263" r:id="rId14"/>
    <p:sldId id="264" r:id="rId15"/>
    <p:sldId id="265" r:id="rId16"/>
    <p:sldId id="266" r:id="rId17"/>
  </p:sldIdLst>
  <p:sldSz cy="10287000" cx="18288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1" roundtripDataSignature="AMtx7mi1OEMtuMi2TraVfKeQZ1Dn71twLw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9" Type="http://schemas.openxmlformats.org/officeDocument/2006/relationships/slide" Target="slides/slide4.xml"/><Relationship Id="rId10" Type="http://schemas.openxmlformats.org/officeDocument/2006/relationships/slide" Target="slides/slide5.xml"/><Relationship Id="rId11" Type="http://customschemas.google.com/relationships/presentationmetadata" Target="metadata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6" name="Shape 8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Google Shape;8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8" name="Google Shape;88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8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8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0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0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1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1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1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2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2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2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2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3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4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4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4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5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5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5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6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7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7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6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3.png"/><Relationship Id="rId4" Type="http://schemas.openxmlformats.org/officeDocument/2006/relationships/image" Target="../media/image1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Relationship Id="rId4" Type="http://schemas.openxmlformats.org/officeDocument/2006/relationships/image" Target="../media/image4.png"/><Relationship Id="rId5" Type="http://schemas.openxmlformats.org/officeDocument/2006/relationships/image" Target="../media/image5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370730"/>
        </a:solidFill>
        <a:effectLst/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4" name="Picture 83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8288000" cy="10287000"/>
          </a:xfrm>
          <a:prstGeom prst="rect">
            <a:avLst/>
          </a:prstGeom>
        </p:spPr>
      </p:pic>
      <p:sp>
        <p:nvSpPr>
          <p:cNvPr id="85" name="Rectangle 84"/>
          <p:cNvSpPr/>
          <p:nvPr/>
        </p:nvSpPr>
        <p:spPr>
          <a:xfrm>
            <a:off x="0" y="0"/>
            <a:ext cx="10789920" cy="10287000"/>
          </a:xfrm>
          <a:prstGeom prst="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ounded Rectangle 85"/>
          <p:cNvSpPr/>
          <p:nvPr/>
        </p:nvSpPr>
        <p:spPr>
          <a:xfrm>
            <a:off x="713232" y="612648"/>
            <a:ext cx="2331720" cy="292608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832104" y="676656"/>
            <a:ext cx="2084831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1" i="0">
                <a:solidFill>
                  <a:srgbClr val="370730"/>
                </a:solidFill>
                <a:latin typeface="Aptos"/>
              </a:rPr>
              <a:t>MEESHO DICE CHALLENGE | S3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749808" y="1874519"/>
            <a:ext cx="9326880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3400" b="1" i="0">
                <a:solidFill>
                  <a:srgbClr val="FFFFFF"/>
                </a:solidFill>
                <a:latin typeface="Aptos Display"/>
              </a:rPr>
              <a:t>Beauty proof is abundant.
Commerce handoff is not.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86384" y="3200400"/>
            <a:ext cx="786384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800" b="1" i="0">
                <a:solidFill>
                  <a:srgbClr val="FFF7E0"/>
                </a:solidFill>
                <a:latin typeface="Aptos Display"/>
              </a:rPr>
              <a:t>A measured bridge from creator evidence to confident Meesho purchase.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777240" y="4069080"/>
            <a:ext cx="6309360" cy="1170432"/>
          </a:xfrm>
          <a:prstGeom prst="roundRect">
            <a:avLst/>
          </a:prstGeom>
          <a:solidFill>
            <a:srgbClr val="FFE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1024128" y="4297680"/>
            <a:ext cx="58064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E05579"/>
                </a:solidFill>
                <a:latin typeface="Aptos"/>
              </a:rPr>
              <a:t>PROPOSED 30-DAY WEDGE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1024128" y="4599432"/>
            <a:ext cx="5806440" cy="32918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300" b="1" i="0">
                <a:solidFill>
                  <a:srgbClr val="370730"/>
                </a:solidFill>
                <a:latin typeface="Aptos Display"/>
              </a:rPr>
              <a:t>Beauty Proof Bridge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786384" y="8001000"/>
            <a:ext cx="53035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400" b="1" i="0">
                <a:solidFill>
                  <a:srgbClr val="FFFFFF"/>
                </a:solidFill>
                <a:latin typeface="Aptos Display"/>
              </a:rPr>
              <a:t>Team Slayed it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786384" y="8339327"/>
            <a:ext cx="566928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0" i="0">
                <a:solidFill>
                  <a:srgbClr val="FFF7E0"/>
                </a:solidFill>
                <a:latin typeface="Aptos"/>
              </a:rPr>
              <a:t>Samiksha Mitra | IIT Guwahati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786384" y="9464040"/>
            <a:ext cx="566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FFF7E0"/>
                </a:solidFill>
                <a:latin typeface="Aptos"/>
              </a:rPr>
              <a:t>Evidence cut: 09 September 2026 | Appendix included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7E0"/>
        </a:solidFill>
        <a:effectLst/>
      </p:bgPr>
    </p:bg>
    <p:spTree>
      <p:nvGrpSpPr>
        <p:cNvPr id="89" name="Shape 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0" name="Picture 89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173736"/>
            <a:ext cx="1353312" cy="673837"/>
          </a:xfrm>
          <a:prstGeom prst="rect">
            <a:avLst/>
          </a:prstGeom>
        </p:spPr>
      </p:pic>
      <p:sp>
        <p:nvSpPr>
          <p:cNvPr id="91" name="Rounded Rectangle 90"/>
          <p:cNvSpPr/>
          <p:nvPr/>
        </p:nvSpPr>
        <p:spPr>
          <a:xfrm>
            <a:off x="17080992" y="137160"/>
            <a:ext cx="786384" cy="548640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7163288" y="182880"/>
            <a:ext cx="6217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F59E0B"/>
                </a:solidFill>
                <a:latin typeface="Aptos Display"/>
              </a:rPr>
              <a:t>m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7117568" y="448056"/>
            <a:ext cx="6949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ptos"/>
              </a:rPr>
              <a:t>meesho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1901952" y="237744"/>
            <a:ext cx="11704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E05579"/>
                </a:solidFill>
                <a:latin typeface="Aptos"/>
              </a:rPr>
              <a:t>ROUND 1 | VALUE CHAIN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1901952" y="438912"/>
            <a:ext cx="145389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370730"/>
                </a:solidFill>
                <a:latin typeface="Aptos Display"/>
              </a:rPr>
              <a:t>The leak is not beauty proof. It is the proof handoff.</a:t>
            </a:r>
          </a:p>
        </p:txBody>
      </p:sp>
      <p:sp>
        <p:nvSpPr>
          <p:cNvPr id="96" name="Rectangle 95"/>
          <p:cNvSpPr/>
          <p:nvPr/>
        </p:nvSpPr>
        <p:spPr>
          <a:xfrm>
            <a:off x="411480" y="1060704"/>
            <a:ext cx="17465040" cy="16510"/>
          </a:xfrm>
          <a:prstGeom prst="rect">
            <a:avLst/>
          </a:prstGeom>
          <a:solidFill>
            <a:srgbClr val="DECE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502920" y="1261872"/>
            <a:ext cx="16642080" cy="29260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75761"/>
                </a:solidFill>
                <a:latin typeface="Aptos"/>
              </a:rPr>
              <a:t>Creators already explain fit, shade, texture and outcomes. The unresolved value leak begins when useful proof leaves the video and enters a generic transaction surface.</a:t>
            </a:r>
          </a:p>
        </p:txBody>
      </p:sp>
      <p:sp>
        <p:nvSpPr>
          <p:cNvPr id="98" name="Rounded Rectangle 97"/>
          <p:cNvSpPr/>
          <p:nvPr/>
        </p:nvSpPr>
        <p:spPr>
          <a:xfrm>
            <a:off x="502920" y="1755648"/>
            <a:ext cx="17282160" cy="310896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9" name="TextBox 98"/>
          <p:cNvSpPr txBox="1"/>
          <p:nvPr/>
        </p:nvSpPr>
        <p:spPr>
          <a:xfrm>
            <a:off x="612648" y="1810512"/>
            <a:ext cx="170627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ptos"/>
              </a:rPr>
              <a:t>THE CREATOR → SKU → AUDIENCE → COMMERCE CHAIN</a:t>
            </a:r>
          </a:p>
        </p:txBody>
      </p:sp>
      <p:sp>
        <p:nvSpPr>
          <p:cNvPr id="100" name="Chevron 99"/>
          <p:cNvSpPr/>
          <p:nvPr/>
        </p:nvSpPr>
        <p:spPr>
          <a:xfrm>
            <a:off x="502920" y="2176272"/>
            <a:ext cx="2157984" cy="585216"/>
          </a:xfrm>
          <a:prstGeom prst="chevron">
            <a:avLst/>
          </a:prstGeom>
          <a:solidFill>
            <a:srgbClr val="37073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1" name="TextBox 100"/>
          <p:cNvSpPr txBox="1"/>
          <p:nvPr/>
        </p:nvSpPr>
        <p:spPr>
          <a:xfrm>
            <a:off x="612648" y="2267712"/>
            <a:ext cx="190195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ptos"/>
              </a:rPr>
              <a:t>BRAND / SKU</a:t>
            </a:r>
          </a:p>
        </p:txBody>
      </p:sp>
      <p:sp>
        <p:nvSpPr>
          <p:cNvPr id="102" name="TextBox 101"/>
          <p:cNvSpPr txBox="1"/>
          <p:nvPr/>
        </p:nvSpPr>
        <p:spPr>
          <a:xfrm>
            <a:off x="603504" y="2487168"/>
            <a:ext cx="19385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90" b="0" i="0">
                <a:solidFill>
                  <a:srgbClr val="FFF7E0"/>
                </a:solidFill>
                <a:latin typeface="Aptos"/>
              </a:rPr>
              <a:t>claim + cohort</a:t>
            </a:r>
          </a:p>
        </p:txBody>
      </p:sp>
      <p:sp>
        <p:nvSpPr>
          <p:cNvPr id="103" name="Chevron 102"/>
          <p:cNvSpPr/>
          <p:nvPr/>
        </p:nvSpPr>
        <p:spPr>
          <a:xfrm>
            <a:off x="2670048" y="2176272"/>
            <a:ext cx="2157984" cy="585216"/>
          </a:xfrm>
          <a:prstGeom prst="chevron">
            <a:avLst/>
          </a:prstGeom>
          <a:solidFill>
            <a:srgbClr val="37073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2779776" y="2267712"/>
            <a:ext cx="190195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ptos"/>
              </a:rPr>
              <a:t>CREATOR MATCH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2770632" y="2487168"/>
            <a:ext cx="19385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90" b="0" i="0">
                <a:solidFill>
                  <a:srgbClr val="FFF7E0"/>
                </a:solidFill>
                <a:latin typeface="Aptos"/>
              </a:rPr>
              <a:t>credibility + fit</a:t>
            </a:r>
          </a:p>
        </p:txBody>
      </p:sp>
      <p:sp>
        <p:nvSpPr>
          <p:cNvPr id="106" name="Chevron 105"/>
          <p:cNvSpPr/>
          <p:nvPr/>
        </p:nvSpPr>
        <p:spPr>
          <a:xfrm>
            <a:off x="4837176" y="2176272"/>
            <a:ext cx="2157984" cy="585216"/>
          </a:xfrm>
          <a:prstGeom prst="chevron">
            <a:avLst/>
          </a:prstGeom>
          <a:solidFill>
            <a:srgbClr val="37073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7" name="TextBox 106"/>
          <p:cNvSpPr txBox="1"/>
          <p:nvPr/>
        </p:nvSpPr>
        <p:spPr>
          <a:xfrm>
            <a:off x="4946904" y="2267712"/>
            <a:ext cx="190195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ptos"/>
              </a:rPr>
              <a:t>TRIAL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4937760" y="2487168"/>
            <a:ext cx="19385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90" b="0" i="0">
                <a:solidFill>
                  <a:srgbClr val="FFF7E0"/>
                </a:solidFill>
                <a:latin typeface="Aptos"/>
              </a:rPr>
              <a:t>access + use</a:t>
            </a:r>
          </a:p>
        </p:txBody>
      </p:sp>
      <p:sp>
        <p:nvSpPr>
          <p:cNvPr id="109" name="Chevron 108"/>
          <p:cNvSpPr/>
          <p:nvPr/>
        </p:nvSpPr>
        <p:spPr>
          <a:xfrm>
            <a:off x="7004304" y="2176272"/>
            <a:ext cx="2157984" cy="585216"/>
          </a:xfrm>
          <a:prstGeom prst="chevron">
            <a:avLst/>
          </a:prstGeom>
          <a:solidFill>
            <a:srgbClr val="37073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0" name="TextBox 109"/>
          <p:cNvSpPr txBox="1"/>
          <p:nvPr/>
        </p:nvSpPr>
        <p:spPr>
          <a:xfrm>
            <a:off x="7114032" y="2267712"/>
            <a:ext cx="190195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ptos"/>
              </a:rPr>
              <a:t>PROOF</a:t>
            </a:r>
          </a:p>
        </p:txBody>
      </p:sp>
      <p:sp>
        <p:nvSpPr>
          <p:cNvPr id="111" name="TextBox 110"/>
          <p:cNvSpPr txBox="1"/>
          <p:nvPr/>
        </p:nvSpPr>
        <p:spPr>
          <a:xfrm>
            <a:off x="7104888" y="2487168"/>
            <a:ext cx="19385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90" b="0" i="0">
                <a:solidFill>
                  <a:srgbClr val="FFF7E0"/>
                </a:solidFill>
                <a:latin typeface="Aptos"/>
              </a:rPr>
              <a:t>shade + result</a:t>
            </a:r>
          </a:p>
        </p:txBody>
      </p:sp>
      <p:sp>
        <p:nvSpPr>
          <p:cNvPr id="112" name="Chevron 111"/>
          <p:cNvSpPr/>
          <p:nvPr/>
        </p:nvSpPr>
        <p:spPr>
          <a:xfrm>
            <a:off x="9171432" y="2176272"/>
            <a:ext cx="2157984" cy="585216"/>
          </a:xfrm>
          <a:prstGeom prst="chevron">
            <a:avLst/>
          </a:prstGeom>
          <a:solidFill>
            <a:srgbClr val="37073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9281160" y="2267712"/>
            <a:ext cx="190195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ptos"/>
              </a:rPr>
              <a:t>DISTRIBUTION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9272016" y="2487168"/>
            <a:ext cx="19385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90" b="0" i="0">
                <a:solidFill>
                  <a:srgbClr val="FFF7E0"/>
                </a:solidFill>
                <a:latin typeface="Aptos"/>
              </a:rPr>
              <a:t>reach + context</a:t>
            </a:r>
          </a:p>
        </p:txBody>
      </p:sp>
      <p:sp>
        <p:nvSpPr>
          <p:cNvPr id="115" name="Chevron 114"/>
          <p:cNvSpPr/>
          <p:nvPr/>
        </p:nvSpPr>
        <p:spPr>
          <a:xfrm>
            <a:off x="11338560" y="2176272"/>
            <a:ext cx="2157984" cy="585216"/>
          </a:xfrm>
          <a:prstGeom prst="chevron">
            <a:avLst/>
          </a:prstGeom>
          <a:solidFill>
            <a:srgbClr val="A4AB43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1448288" y="2267712"/>
            <a:ext cx="190195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ptos"/>
              </a:rPr>
              <a:t>MEESHO SURFACE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1439144" y="2487168"/>
            <a:ext cx="19385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90" b="0" i="0">
                <a:solidFill>
                  <a:srgbClr val="FFF7E0"/>
                </a:solidFill>
                <a:latin typeface="Aptos"/>
              </a:rPr>
              <a:t>decision support</a:t>
            </a:r>
          </a:p>
        </p:txBody>
      </p:sp>
      <p:sp>
        <p:nvSpPr>
          <p:cNvPr id="118" name="Chevron 117"/>
          <p:cNvSpPr/>
          <p:nvPr/>
        </p:nvSpPr>
        <p:spPr>
          <a:xfrm>
            <a:off x="13505688" y="2176272"/>
            <a:ext cx="2157984" cy="585216"/>
          </a:xfrm>
          <a:prstGeom prst="chevron">
            <a:avLst/>
          </a:prstGeom>
          <a:solidFill>
            <a:srgbClr val="37073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13615416" y="2267712"/>
            <a:ext cx="190195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ptos"/>
              </a:rPr>
              <a:t>PURCHASE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13606272" y="2487168"/>
            <a:ext cx="19385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90" b="0" i="0">
                <a:solidFill>
                  <a:srgbClr val="FFF7E0"/>
                </a:solidFill>
                <a:latin typeface="Aptos"/>
              </a:rPr>
              <a:t>order + return</a:t>
            </a:r>
          </a:p>
        </p:txBody>
      </p:sp>
      <p:sp>
        <p:nvSpPr>
          <p:cNvPr id="121" name="Chevron 120"/>
          <p:cNvSpPr/>
          <p:nvPr/>
        </p:nvSpPr>
        <p:spPr>
          <a:xfrm>
            <a:off x="15672816" y="2176272"/>
            <a:ext cx="2157984" cy="585216"/>
          </a:xfrm>
          <a:prstGeom prst="chevron">
            <a:avLst/>
          </a:prstGeom>
          <a:solidFill>
            <a:srgbClr val="37073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15782544" y="2267712"/>
            <a:ext cx="1901952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ptos"/>
              </a:rPr>
              <a:t>REPEAT / PAYOUT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15773400" y="2487168"/>
            <a:ext cx="193852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90" b="0" i="0">
                <a:solidFill>
                  <a:srgbClr val="FFF7E0"/>
                </a:solidFill>
                <a:latin typeface="Aptos"/>
              </a:rPr>
              <a:t>learning loop</a:t>
            </a:r>
          </a:p>
        </p:txBody>
      </p:sp>
      <p:sp>
        <p:nvSpPr>
          <p:cNvPr id="124" name="Rounded Rectangle 123"/>
          <p:cNvSpPr/>
          <p:nvPr/>
        </p:nvSpPr>
        <p:spPr>
          <a:xfrm>
            <a:off x="12554712" y="2871216"/>
            <a:ext cx="1115568" cy="256032"/>
          </a:xfrm>
          <a:prstGeom prst="roundRect">
            <a:avLst/>
          </a:prstGeom>
          <a:solidFill>
            <a:srgbClr val="F24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12554712" y="2907792"/>
            <a:ext cx="1115568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40" b="1" i="0">
                <a:solidFill>
                  <a:srgbClr val="FFFFFF"/>
                </a:solidFill>
                <a:latin typeface="Aptos"/>
              </a:rPr>
              <a:t>LEAK TO TEST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12344400" y="3163824"/>
            <a:ext cx="2560320" cy="25400"/>
          </a:xfrm>
          <a:prstGeom prst="rect">
            <a:avLst/>
          </a:prstGeom>
          <a:solidFill>
            <a:srgbClr val="F24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12435840" y="3255264"/>
            <a:ext cx="22860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00" b="1" i="0">
                <a:solidFill>
                  <a:srgbClr val="F24A78"/>
                </a:solidFill>
                <a:latin typeface="Aptos"/>
              </a:rPr>
              <a:t>proof → click → order</a:t>
            </a:r>
          </a:p>
        </p:txBody>
      </p:sp>
      <p:sp>
        <p:nvSpPr>
          <p:cNvPr id="128" name="Rounded Rectangle 127"/>
          <p:cNvSpPr/>
          <p:nvPr/>
        </p:nvSpPr>
        <p:spPr>
          <a:xfrm>
            <a:off x="502920" y="3584448"/>
            <a:ext cx="11137392" cy="310896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612648" y="3639312"/>
            <a:ext cx="1091793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ptos"/>
              </a:rPr>
              <a:t>WHAT THE EVIDENCE MAKES VISIBLE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502920" y="3995928"/>
            <a:ext cx="2587752" cy="13075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502920" y="3995928"/>
            <a:ext cx="73152" cy="1307592"/>
          </a:xfrm>
          <a:prstGeom prst="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667512" y="4114800"/>
            <a:ext cx="23134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0730"/>
                </a:solidFill>
                <a:latin typeface="Aptos"/>
              </a:rPr>
              <a:t>CREATOR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667512" y="4361688"/>
            <a:ext cx="23134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221628"/>
                </a:solidFill>
                <a:latin typeface="Aptos"/>
              </a:rPr>
              <a:t>26/28 audited videos demonstrate products; 24/28 discuss suitability.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2194560" y="4096512"/>
            <a:ext cx="786384" cy="228600"/>
          </a:xfrm>
          <a:prstGeom prst="round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2194560" y="4133088"/>
            <a:ext cx="786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CCA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3310128" y="3995928"/>
            <a:ext cx="2587752" cy="13075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Rectangle 136"/>
          <p:cNvSpPr/>
          <p:nvPr/>
        </p:nvSpPr>
        <p:spPr>
          <a:xfrm>
            <a:off x="3310128" y="3995928"/>
            <a:ext cx="73152" cy="1307592"/>
          </a:xfrm>
          <a:prstGeom prst="rect">
            <a:avLst/>
          </a:prstGeom>
          <a:solidFill>
            <a:srgbClr val="F24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8" name="TextBox 137"/>
          <p:cNvSpPr txBox="1"/>
          <p:nvPr/>
        </p:nvSpPr>
        <p:spPr>
          <a:xfrm>
            <a:off x="3474720" y="4114800"/>
            <a:ext cx="23134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0730"/>
                </a:solidFill>
                <a:latin typeface="Aptos"/>
              </a:rPr>
              <a:t>SHOPPER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3474720" y="4361688"/>
            <a:ext cx="23134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221628"/>
                </a:solidFill>
                <a:latin typeface="Aptos"/>
              </a:rPr>
              <a:t>Shade, skin type, texture and outcome are decision variables, not just views.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5001768" y="4096512"/>
            <a:ext cx="786384" cy="228600"/>
          </a:xfrm>
          <a:prstGeom prst="roundRect">
            <a:avLst/>
          </a:prstGeom>
          <a:solidFill>
            <a:srgbClr val="F24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5001768" y="4133088"/>
            <a:ext cx="786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CCA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6117336" y="3995928"/>
            <a:ext cx="2587752" cy="13075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Rectangle 142"/>
          <p:cNvSpPr/>
          <p:nvPr/>
        </p:nvSpPr>
        <p:spPr>
          <a:xfrm>
            <a:off x="6117336" y="3995928"/>
            <a:ext cx="73152" cy="13075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4" name="TextBox 143"/>
          <p:cNvSpPr txBox="1"/>
          <p:nvPr/>
        </p:nvSpPr>
        <p:spPr>
          <a:xfrm>
            <a:off x="6281928" y="4114800"/>
            <a:ext cx="23134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0730"/>
                </a:solidFill>
                <a:latin typeface="Aptos"/>
              </a:rPr>
              <a:t>BRAND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281928" y="4361688"/>
            <a:ext cx="23134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221628"/>
                </a:solidFill>
                <a:latin typeface="Aptos"/>
              </a:rPr>
              <a:t>PR volume and product defects create a need for better fit, quality and attribution.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7808976" y="4096512"/>
            <a:ext cx="786384" cy="2286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7808976" y="4133088"/>
            <a:ext cx="786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CCA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8924544" y="3995928"/>
            <a:ext cx="2587752" cy="13075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Rectangle 148"/>
          <p:cNvSpPr/>
          <p:nvPr/>
        </p:nvSpPr>
        <p:spPr>
          <a:xfrm>
            <a:off x="8924544" y="3995928"/>
            <a:ext cx="73152" cy="1307592"/>
          </a:xfrm>
          <a:prstGeom prst="rect">
            <a:avLst/>
          </a:prstGeom>
          <a:solidFill>
            <a:srgbClr val="E055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0" name="TextBox 149"/>
          <p:cNvSpPr txBox="1"/>
          <p:nvPr/>
        </p:nvSpPr>
        <p:spPr>
          <a:xfrm>
            <a:off x="9089136" y="4114800"/>
            <a:ext cx="2313432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0730"/>
                </a:solidFill>
                <a:latin typeface="Aptos"/>
              </a:rPr>
              <a:t>MEESHO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9089136" y="4361688"/>
            <a:ext cx="2313432" cy="868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221628"/>
                </a:solidFill>
                <a:latin typeface="Aptos"/>
              </a:rPr>
              <a:t>The public audit does not yet prove the PDP can carry this context into conversion.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10616184" y="4096512"/>
            <a:ext cx="786384" cy="228600"/>
          </a:xfrm>
          <a:prstGeom prst="roundRect">
            <a:avLst/>
          </a:prstGeom>
          <a:solidFill>
            <a:srgbClr val="E055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10616184" y="4133088"/>
            <a:ext cx="786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M-PDP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502920" y="5650992"/>
            <a:ext cx="11137392" cy="1316736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68096" y="5870448"/>
            <a:ext cx="19202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59E0B"/>
                </a:solidFill>
                <a:latin typeface="Aptos"/>
              </a:rPr>
              <a:t>DIAGNOSIS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768096" y="6126480"/>
            <a:ext cx="10497312" cy="49377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620" b="1" i="0">
                <a:solidFill>
                  <a:srgbClr val="FFFFFF"/>
                </a:solidFill>
                <a:latin typeface="Aptos Display"/>
              </a:rPr>
              <a:t>The strongest defensible problem is not “creators lack proof.” It is that Meesho has not yet shown a measurable, reusable handoff for proof that already exists.</a:t>
            </a:r>
          </a:p>
        </p:txBody>
      </p:sp>
      <p:sp>
        <p:nvSpPr>
          <p:cNvPr id="157" name="Rounded Rectangle 156"/>
          <p:cNvSpPr/>
          <p:nvPr/>
        </p:nvSpPr>
        <p:spPr>
          <a:xfrm>
            <a:off x="12024360" y="3584448"/>
            <a:ext cx="5760720" cy="310896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8" name="TextBox 157"/>
          <p:cNvSpPr txBox="1"/>
          <p:nvPr/>
        </p:nvSpPr>
        <p:spPr>
          <a:xfrm>
            <a:off x="12134088" y="3639312"/>
            <a:ext cx="5541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ptos"/>
              </a:rPr>
              <a:t>REALITY CHECK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12024360" y="3995928"/>
            <a:ext cx="5760720" cy="576072"/>
          </a:xfrm>
          <a:prstGeom prst="round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2134088" y="4087368"/>
            <a:ext cx="6583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Aptos Display"/>
              </a:rPr>
              <a:t>28</a:t>
            </a:r>
          </a:p>
        </p:txBody>
      </p:sp>
      <p:sp>
        <p:nvSpPr>
          <p:cNvPr id="161" name="TextBox 160"/>
          <p:cNvSpPr txBox="1"/>
          <p:nvPr/>
        </p:nvSpPr>
        <p:spPr>
          <a:xfrm>
            <a:off x="12865608" y="4133088"/>
            <a:ext cx="4800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ptos"/>
              </a:rPr>
              <a:t>accessible creator audits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12024360" y="4700016"/>
            <a:ext cx="5760720" cy="576072"/>
          </a:xfrm>
          <a:prstGeom prst="roundRect">
            <a:avLst/>
          </a:prstGeom>
          <a:solidFill>
            <a:srgbClr val="F24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12134088" y="4791456"/>
            <a:ext cx="6583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Aptos Display"/>
              </a:rPr>
              <a:t>0/28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2865608" y="4837176"/>
            <a:ext cx="4800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ptos"/>
              </a:rPr>
              <a:t>routed to Meesho in sample</a:t>
            </a:r>
          </a:p>
        </p:txBody>
      </p:sp>
      <p:sp>
        <p:nvSpPr>
          <p:cNvPr id="165" name="Rounded Rectangle 164"/>
          <p:cNvSpPr/>
          <p:nvPr/>
        </p:nvSpPr>
        <p:spPr>
          <a:xfrm>
            <a:off x="12024360" y="5404104"/>
            <a:ext cx="5760720" cy="576072"/>
          </a:xfrm>
          <a:prstGeom prst="roundRect">
            <a:avLst/>
          </a:prstGeom>
          <a:solidFill>
            <a:srgbClr val="36A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2134088" y="5495544"/>
            <a:ext cx="6583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Aptos Display"/>
              </a:rPr>
              <a:t>1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2865608" y="5541264"/>
            <a:ext cx="4800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ptos"/>
              </a:rPr>
              <a:t>public-source flow capability verified</a:t>
            </a:r>
          </a:p>
        </p:txBody>
      </p:sp>
      <p:sp>
        <p:nvSpPr>
          <p:cNvPr id="168" name="Rounded Rectangle 167"/>
          <p:cNvSpPr/>
          <p:nvPr/>
        </p:nvSpPr>
        <p:spPr>
          <a:xfrm>
            <a:off x="12024360" y="6108192"/>
            <a:ext cx="5760720" cy="576072"/>
          </a:xfrm>
          <a:prstGeom prst="roundRect">
            <a:avLst/>
          </a:prstGeom>
          <a:solidFill>
            <a:srgbClr val="E055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12134088" y="6199632"/>
            <a:ext cx="6583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Aptos Display"/>
              </a:rPr>
              <a:t>0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2865608" y="6245352"/>
            <a:ext cx="480060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ptos"/>
              </a:rPr>
              <a:t>primary respondents in tracker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566928" y="9857232"/>
            <a:ext cx="1709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675761"/>
                </a:solidFill>
                <a:latin typeface="Aptos"/>
              </a:rPr>
              <a:t>Evidence: CCA-001–030 audit layer; M-CAT-001; M-PDP-001; COMP-FLOW-001. Proposed diagnosis, not a validated H0–H5 score.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7E0"/>
        </a:solidFill>
        <a:effectLst/>
      </p:bgPr>
    </p:bg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" name="Picture 101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173736"/>
            <a:ext cx="1353312" cy="673837"/>
          </a:xfrm>
          <a:prstGeom prst="rect">
            <a:avLst/>
          </a:prstGeom>
        </p:spPr>
      </p:pic>
      <p:sp>
        <p:nvSpPr>
          <p:cNvPr id="103" name="Rounded Rectangle 102"/>
          <p:cNvSpPr/>
          <p:nvPr/>
        </p:nvSpPr>
        <p:spPr>
          <a:xfrm>
            <a:off x="17080992" y="137160"/>
            <a:ext cx="786384" cy="548640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4" name="TextBox 103"/>
          <p:cNvSpPr txBox="1"/>
          <p:nvPr/>
        </p:nvSpPr>
        <p:spPr>
          <a:xfrm>
            <a:off x="17163288" y="182880"/>
            <a:ext cx="6217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F59E0B"/>
                </a:solidFill>
                <a:latin typeface="Aptos Display"/>
              </a:rPr>
              <a:t>m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17117568" y="448056"/>
            <a:ext cx="6949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ptos"/>
              </a:rPr>
              <a:t>meesho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1901952" y="237744"/>
            <a:ext cx="11704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E05579"/>
                </a:solidFill>
                <a:latin typeface="Aptos"/>
              </a:rPr>
              <a:t>ROUND 1 | PRIORITIZATION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1901952" y="438912"/>
            <a:ext cx="145389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370730"/>
                </a:solidFill>
                <a:latin typeface="Aptos Display"/>
              </a:rPr>
              <a:t>Prioritize the bridge before the engine.</a:t>
            </a:r>
          </a:p>
        </p:txBody>
      </p:sp>
      <p:sp>
        <p:nvSpPr>
          <p:cNvPr id="108" name="Rectangle 107"/>
          <p:cNvSpPr/>
          <p:nvPr/>
        </p:nvSpPr>
        <p:spPr>
          <a:xfrm>
            <a:off x="411480" y="1060704"/>
            <a:ext cx="17465040" cy="16510"/>
          </a:xfrm>
          <a:prstGeom prst="rect">
            <a:avLst/>
          </a:prstGeom>
          <a:solidFill>
            <a:srgbClr val="DECE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9" name="TextBox 108"/>
          <p:cNvSpPr txBox="1"/>
          <p:nvPr/>
        </p:nvSpPr>
        <p:spPr>
          <a:xfrm>
            <a:off x="502920" y="1261872"/>
            <a:ext cx="1664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75761"/>
                </a:solidFill>
                <a:latin typeface="Aptos"/>
              </a:rPr>
              <a:t>Decision rule: pick the smallest lever that serves creators, shoppers and sellers while producing the missing transaction evidence.</a:t>
            </a:r>
          </a:p>
        </p:txBody>
      </p:sp>
      <p:sp>
        <p:nvSpPr>
          <p:cNvPr id="110" name="Rounded Rectangle 109"/>
          <p:cNvSpPr/>
          <p:nvPr/>
        </p:nvSpPr>
        <p:spPr>
          <a:xfrm>
            <a:off x="502920" y="1755648"/>
            <a:ext cx="12664440" cy="310896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1" name="TextBox 110"/>
          <p:cNvSpPr txBox="1"/>
          <p:nvPr/>
        </p:nvSpPr>
        <p:spPr>
          <a:xfrm>
            <a:off x="612648" y="1810512"/>
            <a:ext cx="1244498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ptos"/>
              </a:rPr>
              <a:t>STRATEGIC PRIORITIZATION UNDER EVIDENCE CONSTRAINTS</a:t>
            </a:r>
          </a:p>
        </p:txBody>
      </p:sp>
      <p:sp>
        <p:nvSpPr>
          <p:cNvPr id="112" name="Rounded Rectangle 111"/>
          <p:cNvSpPr/>
          <p:nvPr/>
        </p:nvSpPr>
        <p:spPr>
          <a:xfrm>
            <a:off x="13368528" y="1755648"/>
            <a:ext cx="4416552" cy="31089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3" name="TextBox 112"/>
          <p:cNvSpPr txBox="1"/>
          <p:nvPr/>
        </p:nvSpPr>
        <p:spPr>
          <a:xfrm>
            <a:off x="13478256" y="1810512"/>
            <a:ext cx="419709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ptos"/>
              </a:rPr>
              <a:t>WHY THIS WINS NOW</a:t>
            </a:r>
          </a:p>
        </p:txBody>
      </p:sp>
      <p:sp>
        <p:nvSpPr>
          <p:cNvPr id="114" name="Rectangle 113"/>
          <p:cNvSpPr/>
          <p:nvPr/>
        </p:nvSpPr>
        <p:spPr>
          <a:xfrm>
            <a:off x="502920" y="2167128"/>
            <a:ext cx="1920240" cy="365760"/>
          </a:xfrm>
          <a:prstGeom prst="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5" name="TextBox 114"/>
          <p:cNvSpPr txBox="1"/>
          <p:nvPr/>
        </p:nvSpPr>
        <p:spPr>
          <a:xfrm>
            <a:off x="539496" y="2258568"/>
            <a:ext cx="18470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80" b="1" i="0">
                <a:solidFill>
                  <a:srgbClr val="FFFFFF"/>
                </a:solidFill>
                <a:latin typeface="Aptos"/>
              </a:rPr>
              <a:t>LEVER</a:t>
            </a:r>
          </a:p>
        </p:txBody>
      </p:sp>
      <p:sp>
        <p:nvSpPr>
          <p:cNvPr id="116" name="Rectangle 115"/>
          <p:cNvSpPr/>
          <p:nvPr/>
        </p:nvSpPr>
        <p:spPr>
          <a:xfrm>
            <a:off x="2423160" y="2167128"/>
            <a:ext cx="2514600" cy="365760"/>
          </a:xfrm>
          <a:prstGeom prst="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7" name="TextBox 116"/>
          <p:cNvSpPr txBox="1"/>
          <p:nvPr/>
        </p:nvSpPr>
        <p:spPr>
          <a:xfrm>
            <a:off x="2459736" y="2258568"/>
            <a:ext cx="24414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80" b="1" i="0">
                <a:solidFill>
                  <a:srgbClr val="FFFFFF"/>
                </a:solidFill>
                <a:latin typeface="Aptos"/>
              </a:rPr>
              <a:t>WHAT IT DOES</a:t>
            </a:r>
          </a:p>
        </p:txBody>
      </p:sp>
      <p:sp>
        <p:nvSpPr>
          <p:cNvPr id="118" name="Rectangle 117"/>
          <p:cNvSpPr/>
          <p:nvPr/>
        </p:nvSpPr>
        <p:spPr>
          <a:xfrm>
            <a:off x="4937760" y="2167128"/>
            <a:ext cx="1389888" cy="365760"/>
          </a:xfrm>
          <a:prstGeom prst="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9" name="TextBox 118"/>
          <p:cNvSpPr txBox="1"/>
          <p:nvPr/>
        </p:nvSpPr>
        <p:spPr>
          <a:xfrm>
            <a:off x="4974336" y="2258568"/>
            <a:ext cx="1316736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80" b="1" i="0">
                <a:solidFill>
                  <a:srgbClr val="FFFFFF"/>
                </a:solidFill>
                <a:latin typeface="Aptos"/>
              </a:rPr>
              <a:t>3-SIDED VALUE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6327648" y="2167128"/>
            <a:ext cx="1234440" cy="365760"/>
          </a:xfrm>
          <a:prstGeom prst="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TextBox 120"/>
          <p:cNvSpPr txBox="1"/>
          <p:nvPr/>
        </p:nvSpPr>
        <p:spPr>
          <a:xfrm>
            <a:off x="6364224" y="2258568"/>
            <a:ext cx="116128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80" b="1" i="0">
                <a:solidFill>
                  <a:srgbClr val="FFFFFF"/>
                </a:solidFill>
                <a:latin typeface="Aptos"/>
              </a:rPr>
              <a:t>EVIDENCE</a:t>
            </a:r>
          </a:p>
        </p:txBody>
      </p:sp>
      <p:sp>
        <p:nvSpPr>
          <p:cNvPr id="122" name="Rectangle 121"/>
          <p:cNvSpPr/>
          <p:nvPr/>
        </p:nvSpPr>
        <p:spPr>
          <a:xfrm>
            <a:off x="7562088" y="2167128"/>
            <a:ext cx="1143000" cy="365760"/>
          </a:xfrm>
          <a:prstGeom prst="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3" name="TextBox 122"/>
          <p:cNvSpPr txBox="1"/>
          <p:nvPr/>
        </p:nvSpPr>
        <p:spPr>
          <a:xfrm>
            <a:off x="7598664" y="2258568"/>
            <a:ext cx="10698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80" b="1" i="0">
                <a:solidFill>
                  <a:srgbClr val="FFFFFF"/>
                </a:solidFill>
                <a:latin typeface="Aptos"/>
              </a:rPr>
              <a:t>30-DAY FIT</a:t>
            </a:r>
          </a:p>
        </p:txBody>
      </p:sp>
      <p:sp>
        <p:nvSpPr>
          <p:cNvPr id="124" name="Rectangle 123"/>
          <p:cNvSpPr/>
          <p:nvPr/>
        </p:nvSpPr>
        <p:spPr>
          <a:xfrm>
            <a:off x="8705088" y="2167128"/>
            <a:ext cx="1143000" cy="365760"/>
          </a:xfrm>
          <a:prstGeom prst="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5" name="TextBox 124"/>
          <p:cNvSpPr txBox="1"/>
          <p:nvPr/>
        </p:nvSpPr>
        <p:spPr>
          <a:xfrm>
            <a:off x="8741664" y="2258568"/>
            <a:ext cx="106984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80" b="1" i="0">
                <a:solidFill>
                  <a:srgbClr val="FFFFFF"/>
                </a:solidFill>
                <a:latin typeface="Aptos"/>
              </a:rPr>
              <a:t>LEARNING</a:t>
            </a:r>
          </a:p>
        </p:txBody>
      </p:sp>
      <p:sp>
        <p:nvSpPr>
          <p:cNvPr id="126" name="Rectangle 125"/>
          <p:cNvSpPr/>
          <p:nvPr/>
        </p:nvSpPr>
        <p:spPr>
          <a:xfrm>
            <a:off x="9848088" y="2167128"/>
            <a:ext cx="1417320" cy="365760"/>
          </a:xfrm>
          <a:prstGeom prst="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9884664" y="2258568"/>
            <a:ext cx="1344168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80" b="1" i="0">
                <a:solidFill>
                  <a:srgbClr val="FFFFFF"/>
                </a:solidFill>
                <a:latin typeface="Aptos"/>
              </a:rPr>
              <a:t>DECISION</a:t>
            </a:r>
          </a:p>
        </p:txBody>
      </p:sp>
      <p:sp>
        <p:nvSpPr>
          <p:cNvPr id="128" name="Rectangle 127"/>
          <p:cNvSpPr/>
          <p:nvPr/>
        </p:nvSpPr>
        <p:spPr>
          <a:xfrm>
            <a:off x="502920" y="2578608"/>
            <a:ext cx="192024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9" name="TextBox 128"/>
          <p:cNvSpPr txBox="1"/>
          <p:nvPr/>
        </p:nvSpPr>
        <p:spPr>
          <a:xfrm>
            <a:off x="566928" y="2688336"/>
            <a:ext cx="17922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19" b="1" i="0">
                <a:solidFill>
                  <a:srgbClr val="221628"/>
                </a:solidFill>
                <a:latin typeface="Aptos"/>
              </a:rPr>
              <a:t>Creator acquisition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2423160" y="2578608"/>
            <a:ext cx="251460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TextBox 130"/>
          <p:cNvSpPr txBox="1"/>
          <p:nvPr/>
        </p:nvSpPr>
        <p:spPr>
          <a:xfrm>
            <a:off x="2487168" y="2688336"/>
            <a:ext cx="23865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221628"/>
                </a:solidFill>
                <a:latin typeface="Aptos"/>
              </a:rPr>
              <a:t>More supply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937760" y="2578608"/>
            <a:ext cx="138988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001768" y="2688336"/>
            <a:ext cx="126187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C / B</a:t>
            </a:r>
          </a:p>
        </p:txBody>
      </p:sp>
      <p:sp>
        <p:nvSpPr>
          <p:cNvPr id="134" name="Rectangle 133"/>
          <p:cNvSpPr/>
          <p:nvPr/>
        </p:nvSpPr>
        <p:spPr>
          <a:xfrm>
            <a:off x="6327648" y="2578608"/>
            <a:ext cx="123444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391656" y="2688336"/>
            <a:ext cx="11064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MED</a:t>
            </a:r>
          </a:p>
        </p:txBody>
      </p:sp>
      <p:sp>
        <p:nvSpPr>
          <p:cNvPr id="136" name="Rectangle 135"/>
          <p:cNvSpPr/>
          <p:nvPr/>
        </p:nvSpPr>
        <p:spPr>
          <a:xfrm>
            <a:off x="7562088" y="2578608"/>
            <a:ext cx="114300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7626096" y="2688336"/>
            <a:ext cx="10149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HIGH</a:t>
            </a:r>
          </a:p>
        </p:txBody>
      </p:sp>
      <p:sp>
        <p:nvSpPr>
          <p:cNvPr id="138" name="Rectangle 137"/>
          <p:cNvSpPr/>
          <p:nvPr/>
        </p:nvSpPr>
        <p:spPr>
          <a:xfrm>
            <a:off x="8705088" y="2578608"/>
            <a:ext cx="114300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8769096" y="2688336"/>
            <a:ext cx="10149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LOW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9848088" y="2578608"/>
            <a:ext cx="141732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9912096" y="2688336"/>
            <a:ext cx="128930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DEFER</a:t>
            </a:r>
          </a:p>
        </p:txBody>
      </p:sp>
      <p:sp>
        <p:nvSpPr>
          <p:cNvPr id="142" name="Rectangle 141"/>
          <p:cNvSpPr/>
          <p:nvPr/>
        </p:nvSpPr>
        <p:spPr>
          <a:xfrm>
            <a:off x="502920" y="3172968"/>
            <a:ext cx="192024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566928" y="3282696"/>
            <a:ext cx="17922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19" b="1" i="0">
                <a:solidFill>
                  <a:srgbClr val="221628"/>
                </a:solidFill>
                <a:latin typeface="Aptos"/>
              </a:rPr>
              <a:t>Commission uplift</a:t>
            </a:r>
          </a:p>
        </p:txBody>
      </p:sp>
      <p:sp>
        <p:nvSpPr>
          <p:cNvPr id="144" name="Rectangle 143"/>
          <p:cNvSpPr/>
          <p:nvPr/>
        </p:nvSpPr>
        <p:spPr>
          <a:xfrm>
            <a:off x="2423160" y="3172968"/>
            <a:ext cx="251460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2487168" y="3282696"/>
            <a:ext cx="23865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221628"/>
                </a:solidFill>
                <a:latin typeface="Aptos"/>
              </a:rPr>
              <a:t>Change effort</a:t>
            </a:r>
          </a:p>
        </p:txBody>
      </p:sp>
      <p:sp>
        <p:nvSpPr>
          <p:cNvPr id="146" name="Rectangle 145"/>
          <p:cNvSpPr/>
          <p:nvPr/>
        </p:nvSpPr>
        <p:spPr>
          <a:xfrm>
            <a:off x="4937760" y="3172968"/>
            <a:ext cx="138988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5001768" y="3282696"/>
            <a:ext cx="126187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C</a:t>
            </a:r>
          </a:p>
        </p:txBody>
      </p:sp>
      <p:sp>
        <p:nvSpPr>
          <p:cNvPr id="148" name="Rectangle 147"/>
          <p:cNvSpPr/>
          <p:nvPr/>
        </p:nvSpPr>
        <p:spPr>
          <a:xfrm>
            <a:off x="6327648" y="3172968"/>
            <a:ext cx="123444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391656" y="3282696"/>
            <a:ext cx="11064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LOW</a:t>
            </a:r>
          </a:p>
        </p:txBody>
      </p:sp>
      <p:sp>
        <p:nvSpPr>
          <p:cNvPr id="150" name="Rectangle 149"/>
          <p:cNvSpPr/>
          <p:nvPr/>
        </p:nvSpPr>
        <p:spPr>
          <a:xfrm>
            <a:off x="7562088" y="3172968"/>
            <a:ext cx="114300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7626096" y="3282696"/>
            <a:ext cx="10149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HIGH</a:t>
            </a:r>
          </a:p>
        </p:txBody>
      </p:sp>
      <p:sp>
        <p:nvSpPr>
          <p:cNvPr id="152" name="Rectangle 151"/>
          <p:cNvSpPr/>
          <p:nvPr/>
        </p:nvSpPr>
        <p:spPr>
          <a:xfrm>
            <a:off x="8705088" y="3172968"/>
            <a:ext cx="114300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8769096" y="3282696"/>
            <a:ext cx="10149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LOW</a:t>
            </a:r>
          </a:p>
        </p:txBody>
      </p:sp>
      <p:sp>
        <p:nvSpPr>
          <p:cNvPr id="154" name="Rectangle 153"/>
          <p:cNvSpPr/>
          <p:nvPr/>
        </p:nvSpPr>
        <p:spPr>
          <a:xfrm>
            <a:off x="9848088" y="3172968"/>
            <a:ext cx="141732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9912096" y="3282696"/>
            <a:ext cx="128930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DEFER</a:t>
            </a:r>
          </a:p>
        </p:txBody>
      </p:sp>
      <p:sp>
        <p:nvSpPr>
          <p:cNvPr id="156" name="Rectangle 155"/>
          <p:cNvSpPr/>
          <p:nvPr/>
        </p:nvSpPr>
        <p:spPr>
          <a:xfrm>
            <a:off x="502920" y="3767328"/>
            <a:ext cx="192024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566928" y="3877056"/>
            <a:ext cx="17922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19" b="1" i="0">
                <a:solidFill>
                  <a:srgbClr val="221628"/>
                </a:solidFill>
                <a:latin typeface="Aptos"/>
              </a:rPr>
              <a:t>Broad sampling</a:t>
            </a:r>
          </a:p>
        </p:txBody>
      </p:sp>
      <p:sp>
        <p:nvSpPr>
          <p:cNvPr id="158" name="Rectangle 157"/>
          <p:cNvSpPr/>
          <p:nvPr/>
        </p:nvSpPr>
        <p:spPr>
          <a:xfrm>
            <a:off x="2423160" y="3767328"/>
            <a:ext cx="251460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2487168" y="3877056"/>
            <a:ext cx="23865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221628"/>
                </a:solidFill>
                <a:latin typeface="Aptos"/>
              </a:rPr>
              <a:t>Create volume</a:t>
            </a:r>
          </a:p>
        </p:txBody>
      </p:sp>
      <p:sp>
        <p:nvSpPr>
          <p:cNvPr id="160" name="Rectangle 159"/>
          <p:cNvSpPr/>
          <p:nvPr/>
        </p:nvSpPr>
        <p:spPr>
          <a:xfrm>
            <a:off x="4937760" y="3767328"/>
            <a:ext cx="138988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5001768" y="3877056"/>
            <a:ext cx="126187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C / B</a:t>
            </a:r>
          </a:p>
        </p:txBody>
      </p:sp>
      <p:sp>
        <p:nvSpPr>
          <p:cNvPr id="162" name="Rectangle 161"/>
          <p:cNvSpPr/>
          <p:nvPr/>
        </p:nvSpPr>
        <p:spPr>
          <a:xfrm>
            <a:off x="6327648" y="3767328"/>
            <a:ext cx="123444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TextBox 162"/>
          <p:cNvSpPr txBox="1"/>
          <p:nvPr/>
        </p:nvSpPr>
        <p:spPr>
          <a:xfrm>
            <a:off x="6391656" y="3877056"/>
            <a:ext cx="11064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MED</a:t>
            </a:r>
          </a:p>
        </p:txBody>
      </p:sp>
      <p:sp>
        <p:nvSpPr>
          <p:cNvPr id="164" name="Rectangle 163"/>
          <p:cNvSpPr/>
          <p:nvPr/>
        </p:nvSpPr>
        <p:spPr>
          <a:xfrm>
            <a:off x="7562088" y="3767328"/>
            <a:ext cx="114300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5" name="TextBox 164"/>
          <p:cNvSpPr txBox="1"/>
          <p:nvPr/>
        </p:nvSpPr>
        <p:spPr>
          <a:xfrm>
            <a:off x="7626096" y="3877056"/>
            <a:ext cx="10149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MED</a:t>
            </a:r>
          </a:p>
        </p:txBody>
      </p:sp>
      <p:sp>
        <p:nvSpPr>
          <p:cNvPr id="166" name="Rectangle 165"/>
          <p:cNvSpPr/>
          <p:nvPr/>
        </p:nvSpPr>
        <p:spPr>
          <a:xfrm>
            <a:off x="8705088" y="3767328"/>
            <a:ext cx="114300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7" name="TextBox 166"/>
          <p:cNvSpPr txBox="1"/>
          <p:nvPr/>
        </p:nvSpPr>
        <p:spPr>
          <a:xfrm>
            <a:off x="8769096" y="3877056"/>
            <a:ext cx="10149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MED</a:t>
            </a:r>
          </a:p>
        </p:txBody>
      </p:sp>
      <p:sp>
        <p:nvSpPr>
          <p:cNvPr id="168" name="Rectangle 167"/>
          <p:cNvSpPr/>
          <p:nvPr/>
        </p:nvSpPr>
        <p:spPr>
          <a:xfrm>
            <a:off x="9848088" y="3767328"/>
            <a:ext cx="141732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9912096" y="3877056"/>
            <a:ext cx="128930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NARROW</a:t>
            </a:r>
          </a:p>
        </p:txBody>
      </p:sp>
      <p:sp>
        <p:nvSpPr>
          <p:cNvPr id="170" name="Rectangle 169"/>
          <p:cNvSpPr/>
          <p:nvPr/>
        </p:nvSpPr>
        <p:spPr>
          <a:xfrm>
            <a:off x="502920" y="4361688"/>
            <a:ext cx="1920240" cy="557784"/>
          </a:xfrm>
          <a:prstGeom prst="rect">
            <a:avLst/>
          </a:prstGeom>
          <a:solidFill>
            <a:srgbClr val="E5F7F9"/>
          </a:solidFill>
          <a:ln w="12700">
            <a:solidFill>
              <a:srgbClr val="36A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1" name="TextBox 170"/>
          <p:cNvSpPr txBox="1"/>
          <p:nvPr/>
        </p:nvSpPr>
        <p:spPr>
          <a:xfrm>
            <a:off x="566928" y="4471416"/>
            <a:ext cx="17922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19" b="1" i="0">
                <a:solidFill>
                  <a:srgbClr val="370730"/>
                </a:solidFill>
                <a:latin typeface="Aptos"/>
              </a:rPr>
              <a:t>Beauty Proof Bridge</a:t>
            </a:r>
          </a:p>
        </p:txBody>
      </p:sp>
      <p:sp>
        <p:nvSpPr>
          <p:cNvPr id="172" name="Rectangle 171"/>
          <p:cNvSpPr/>
          <p:nvPr/>
        </p:nvSpPr>
        <p:spPr>
          <a:xfrm>
            <a:off x="2423160" y="4361688"/>
            <a:ext cx="2514600" cy="557784"/>
          </a:xfrm>
          <a:prstGeom prst="rect">
            <a:avLst/>
          </a:prstGeom>
          <a:solidFill>
            <a:srgbClr val="E5F7F9"/>
          </a:solidFill>
          <a:ln w="12700">
            <a:solidFill>
              <a:srgbClr val="36A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TextBox 172"/>
          <p:cNvSpPr txBox="1"/>
          <p:nvPr/>
        </p:nvSpPr>
        <p:spPr>
          <a:xfrm>
            <a:off x="2487168" y="4471416"/>
            <a:ext cx="23865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370730"/>
                </a:solidFill>
                <a:latin typeface="Aptos"/>
              </a:rPr>
              <a:t>Carry proof into Meesho</a:t>
            </a:r>
          </a:p>
        </p:txBody>
      </p:sp>
      <p:sp>
        <p:nvSpPr>
          <p:cNvPr id="174" name="Rectangle 173"/>
          <p:cNvSpPr/>
          <p:nvPr/>
        </p:nvSpPr>
        <p:spPr>
          <a:xfrm>
            <a:off x="4937760" y="4361688"/>
            <a:ext cx="1389888" cy="557784"/>
          </a:xfrm>
          <a:prstGeom prst="rect">
            <a:avLst/>
          </a:prstGeom>
          <a:solidFill>
            <a:srgbClr val="E5F7F9"/>
          </a:solidFill>
          <a:ln w="12700">
            <a:solidFill>
              <a:srgbClr val="36A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5" name="TextBox 174"/>
          <p:cNvSpPr txBox="1"/>
          <p:nvPr/>
        </p:nvSpPr>
        <p:spPr>
          <a:xfrm>
            <a:off x="5001768" y="4471416"/>
            <a:ext cx="126187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370730"/>
                </a:solidFill>
                <a:latin typeface="Aptos"/>
              </a:rPr>
              <a:t>C / S / B</a:t>
            </a:r>
          </a:p>
        </p:txBody>
      </p:sp>
      <p:sp>
        <p:nvSpPr>
          <p:cNvPr id="176" name="Rectangle 175"/>
          <p:cNvSpPr/>
          <p:nvPr/>
        </p:nvSpPr>
        <p:spPr>
          <a:xfrm>
            <a:off x="6327648" y="4361688"/>
            <a:ext cx="1234440" cy="557784"/>
          </a:xfrm>
          <a:prstGeom prst="rect">
            <a:avLst/>
          </a:prstGeom>
          <a:solidFill>
            <a:srgbClr val="E5F7F9"/>
          </a:solidFill>
          <a:ln w="12700">
            <a:solidFill>
              <a:srgbClr val="36A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7" name="TextBox 176"/>
          <p:cNvSpPr txBox="1"/>
          <p:nvPr/>
        </p:nvSpPr>
        <p:spPr>
          <a:xfrm>
            <a:off x="6391656" y="4471416"/>
            <a:ext cx="11064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370730"/>
                </a:solidFill>
                <a:latin typeface="Aptos"/>
              </a:rPr>
              <a:t>HIGH*</a:t>
            </a:r>
          </a:p>
        </p:txBody>
      </p:sp>
      <p:sp>
        <p:nvSpPr>
          <p:cNvPr id="178" name="Rectangle 177"/>
          <p:cNvSpPr/>
          <p:nvPr/>
        </p:nvSpPr>
        <p:spPr>
          <a:xfrm>
            <a:off x="7562088" y="4361688"/>
            <a:ext cx="1143000" cy="557784"/>
          </a:xfrm>
          <a:prstGeom prst="rect">
            <a:avLst/>
          </a:prstGeom>
          <a:solidFill>
            <a:srgbClr val="E5F7F9"/>
          </a:solidFill>
          <a:ln w="12700">
            <a:solidFill>
              <a:srgbClr val="36A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7626096" y="4471416"/>
            <a:ext cx="10149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370730"/>
                </a:solidFill>
                <a:latin typeface="Aptos"/>
              </a:rPr>
              <a:t>HIGH</a:t>
            </a:r>
          </a:p>
        </p:txBody>
      </p:sp>
      <p:sp>
        <p:nvSpPr>
          <p:cNvPr id="180" name="Rectangle 179"/>
          <p:cNvSpPr/>
          <p:nvPr/>
        </p:nvSpPr>
        <p:spPr>
          <a:xfrm>
            <a:off x="8705088" y="4361688"/>
            <a:ext cx="1143000" cy="557784"/>
          </a:xfrm>
          <a:prstGeom prst="rect">
            <a:avLst/>
          </a:prstGeom>
          <a:solidFill>
            <a:srgbClr val="E5F7F9"/>
          </a:solidFill>
          <a:ln w="12700">
            <a:solidFill>
              <a:srgbClr val="36A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8769096" y="4471416"/>
            <a:ext cx="10149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370730"/>
                </a:solidFill>
                <a:latin typeface="Aptos"/>
              </a:rPr>
              <a:t>HIGH</a:t>
            </a:r>
          </a:p>
        </p:txBody>
      </p:sp>
      <p:sp>
        <p:nvSpPr>
          <p:cNvPr id="182" name="Rectangle 181"/>
          <p:cNvSpPr/>
          <p:nvPr/>
        </p:nvSpPr>
        <p:spPr>
          <a:xfrm>
            <a:off x="9848088" y="4361688"/>
            <a:ext cx="1417320" cy="557784"/>
          </a:xfrm>
          <a:prstGeom prst="rect">
            <a:avLst/>
          </a:prstGeom>
          <a:solidFill>
            <a:srgbClr val="E5F7F9"/>
          </a:solidFill>
          <a:ln w="12700">
            <a:solidFill>
              <a:srgbClr val="36A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9912096" y="4471416"/>
            <a:ext cx="128930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1" i="0">
                <a:solidFill>
                  <a:srgbClr val="370730"/>
                </a:solidFill>
                <a:latin typeface="Aptos"/>
              </a:rPr>
              <a:t>PILOT</a:t>
            </a:r>
          </a:p>
        </p:txBody>
      </p:sp>
      <p:sp>
        <p:nvSpPr>
          <p:cNvPr id="184" name="Rectangle 183"/>
          <p:cNvSpPr/>
          <p:nvPr/>
        </p:nvSpPr>
        <p:spPr>
          <a:xfrm>
            <a:off x="502920" y="4956048"/>
            <a:ext cx="192024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5" name="TextBox 184"/>
          <p:cNvSpPr txBox="1"/>
          <p:nvPr/>
        </p:nvSpPr>
        <p:spPr>
          <a:xfrm>
            <a:off x="566928" y="5065776"/>
            <a:ext cx="17922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19" b="1" i="0">
                <a:solidFill>
                  <a:srgbClr val="221628"/>
                </a:solidFill>
                <a:latin typeface="Aptos"/>
              </a:rPr>
              <a:t>PDP suitability layer</a:t>
            </a:r>
          </a:p>
        </p:txBody>
      </p:sp>
      <p:sp>
        <p:nvSpPr>
          <p:cNvPr id="186" name="Rectangle 185"/>
          <p:cNvSpPr/>
          <p:nvPr/>
        </p:nvSpPr>
        <p:spPr>
          <a:xfrm>
            <a:off x="2423160" y="4956048"/>
            <a:ext cx="251460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7" name="TextBox 186"/>
          <p:cNvSpPr txBox="1"/>
          <p:nvPr/>
        </p:nvSpPr>
        <p:spPr>
          <a:xfrm>
            <a:off x="2487168" y="5065776"/>
            <a:ext cx="23865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221628"/>
                </a:solidFill>
                <a:latin typeface="Aptos"/>
              </a:rPr>
              <a:t>Make fit legible</a:t>
            </a:r>
          </a:p>
        </p:txBody>
      </p:sp>
      <p:sp>
        <p:nvSpPr>
          <p:cNvPr id="188" name="Rectangle 187"/>
          <p:cNvSpPr/>
          <p:nvPr/>
        </p:nvSpPr>
        <p:spPr>
          <a:xfrm>
            <a:off x="4937760" y="4956048"/>
            <a:ext cx="138988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9" name="TextBox 188"/>
          <p:cNvSpPr txBox="1"/>
          <p:nvPr/>
        </p:nvSpPr>
        <p:spPr>
          <a:xfrm>
            <a:off x="5001768" y="5065776"/>
            <a:ext cx="126187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S / B</a:t>
            </a:r>
          </a:p>
        </p:txBody>
      </p:sp>
      <p:sp>
        <p:nvSpPr>
          <p:cNvPr id="190" name="Rectangle 189"/>
          <p:cNvSpPr/>
          <p:nvPr/>
        </p:nvSpPr>
        <p:spPr>
          <a:xfrm>
            <a:off x="6327648" y="4956048"/>
            <a:ext cx="123444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1" name="TextBox 190"/>
          <p:cNvSpPr txBox="1"/>
          <p:nvPr/>
        </p:nvSpPr>
        <p:spPr>
          <a:xfrm>
            <a:off x="6391656" y="5065776"/>
            <a:ext cx="11064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LOW*</a:t>
            </a:r>
          </a:p>
        </p:txBody>
      </p:sp>
      <p:sp>
        <p:nvSpPr>
          <p:cNvPr id="192" name="Rectangle 191"/>
          <p:cNvSpPr/>
          <p:nvPr/>
        </p:nvSpPr>
        <p:spPr>
          <a:xfrm>
            <a:off x="7562088" y="4956048"/>
            <a:ext cx="114300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3" name="TextBox 192"/>
          <p:cNvSpPr txBox="1"/>
          <p:nvPr/>
        </p:nvSpPr>
        <p:spPr>
          <a:xfrm>
            <a:off x="7626096" y="5065776"/>
            <a:ext cx="10149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MED</a:t>
            </a:r>
          </a:p>
        </p:txBody>
      </p:sp>
      <p:sp>
        <p:nvSpPr>
          <p:cNvPr id="194" name="Rectangle 193"/>
          <p:cNvSpPr/>
          <p:nvPr/>
        </p:nvSpPr>
        <p:spPr>
          <a:xfrm>
            <a:off x="8705088" y="4956048"/>
            <a:ext cx="114300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5" name="TextBox 194"/>
          <p:cNvSpPr txBox="1"/>
          <p:nvPr/>
        </p:nvSpPr>
        <p:spPr>
          <a:xfrm>
            <a:off x="8769096" y="5065776"/>
            <a:ext cx="10149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HIGH</a:t>
            </a:r>
          </a:p>
        </p:txBody>
      </p:sp>
      <p:sp>
        <p:nvSpPr>
          <p:cNvPr id="196" name="Rectangle 195"/>
          <p:cNvSpPr/>
          <p:nvPr/>
        </p:nvSpPr>
        <p:spPr>
          <a:xfrm>
            <a:off x="9848088" y="4956048"/>
            <a:ext cx="141732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7" name="TextBox 196"/>
          <p:cNvSpPr txBox="1"/>
          <p:nvPr/>
        </p:nvSpPr>
        <p:spPr>
          <a:xfrm>
            <a:off x="9912096" y="5065776"/>
            <a:ext cx="128930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PAIR</a:t>
            </a:r>
          </a:p>
        </p:txBody>
      </p:sp>
      <p:sp>
        <p:nvSpPr>
          <p:cNvPr id="198" name="Rectangle 197"/>
          <p:cNvSpPr/>
          <p:nvPr/>
        </p:nvSpPr>
        <p:spPr>
          <a:xfrm>
            <a:off x="502920" y="5550408"/>
            <a:ext cx="192024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9" name="TextBox 198"/>
          <p:cNvSpPr txBox="1"/>
          <p:nvPr/>
        </p:nvSpPr>
        <p:spPr>
          <a:xfrm>
            <a:off x="566928" y="5660136"/>
            <a:ext cx="17922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19" b="1" i="0">
                <a:solidFill>
                  <a:srgbClr val="221628"/>
                </a:solidFill>
                <a:latin typeface="Aptos"/>
              </a:rPr>
              <a:t>Full matching engine</a:t>
            </a:r>
          </a:p>
        </p:txBody>
      </p:sp>
      <p:sp>
        <p:nvSpPr>
          <p:cNvPr id="200" name="Rectangle 199"/>
          <p:cNvSpPr/>
          <p:nvPr/>
        </p:nvSpPr>
        <p:spPr>
          <a:xfrm>
            <a:off x="2423160" y="5550408"/>
            <a:ext cx="251460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1" name="TextBox 200"/>
          <p:cNvSpPr txBox="1"/>
          <p:nvPr/>
        </p:nvSpPr>
        <p:spPr>
          <a:xfrm>
            <a:off x="2487168" y="5660136"/>
            <a:ext cx="23865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221628"/>
                </a:solidFill>
                <a:latin typeface="Aptos"/>
              </a:rPr>
              <a:t>Allocate creator x SKU</a:t>
            </a:r>
          </a:p>
        </p:txBody>
      </p:sp>
      <p:sp>
        <p:nvSpPr>
          <p:cNvPr id="202" name="Rectangle 201"/>
          <p:cNvSpPr/>
          <p:nvPr/>
        </p:nvSpPr>
        <p:spPr>
          <a:xfrm>
            <a:off x="4937760" y="5550408"/>
            <a:ext cx="138988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3" name="TextBox 202"/>
          <p:cNvSpPr txBox="1"/>
          <p:nvPr/>
        </p:nvSpPr>
        <p:spPr>
          <a:xfrm>
            <a:off x="5001768" y="5660136"/>
            <a:ext cx="126187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C / S / B</a:t>
            </a:r>
          </a:p>
        </p:txBody>
      </p:sp>
      <p:sp>
        <p:nvSpPr>
          <p:cNvPr id="204" name="Rectangle 203"/>
          <p:cNvSpPr/>
          <p:nvPr/>
        </p:nvSpPr>
        <p:spPr>
          <a:xfrm>
            <a:off x="6327648" y="5550408"/>
            <a:ext cx="123444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5" name="TextBox 204"/>
          <p:cNvSpPr txBox="1"/>
          <p:nvPr/>
        </p:nvSpPr>
        <p:spPr>
          <a:xfrm>
            <a:off x="6391656" y="5660136"/>
            <a:ext cx="11064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LOW</a:t>
            </a:r>
          </a:p>
        </p:txBody>
      </p:sp>
      <p:sp>
        <p:nvSpPr>
          <p:cNvPr id="206" name="Rectangle 205"/>
          <p:cNvSpPr/>
          <p:nvPr/>
        </p:nvSpPr>
        <p:spPr>
          <a:xfrm>
            <a:off x="7562088" y="5550408"/>
            <a:ext cx="114300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7" name="TextBox 206"/>
          <p:cNvSpPr txBox="1"/>
          <p:nvPr/>
        </p:nvSpPr>
        <p:spPr>
          <a:xfrm>
            <a:off x="7626096" y="5660136"/>
            <a:ext cx="10149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LOW</a:t>
            </a:r>
          </a:p>
        </p:txBody>
      </p:sp>
      <p:sp>
        <p:nvSpPr>
          <p:cNvPr id="208" name="Rectangle 207"/>
          <p:cNvSpPr/>
          <p:nvPr/>
        </p:nvSpPr>
        <p:spPr>
          <a:xfrm>
            <a:off x="8705088" y="5550408"/>
            <a:ext cx="114300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9" name="TextBox 208"/>
          <p:cNvSpPr txBox="1"/>
          <p:nvPr/>
        </p:nvSpPr>
        <p:spPr>
          <a:xfrm>
            <a:off x="8769096" y="5660136"/>
            <a:ext cx="10149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VERY HIGH</a:t>
            </a:r>
          </a:p>
        </p:txBody>
      </p:sp>
      <p:sp>
        <p:nvSpPr>
          <p:cNvPr id="210" name="Rectangle 209"/>
          <p:cNvSpPr/>
          <p:nvPr/>
        </p:nvSpPr>
        <p:spPr>
          <a:xfrm>
            <a:off x="9848088" y="5550408"/>
            <a:ext cx="141732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1" name="TextBox 210"/>
          <p:cNvSpPr txBox="1"/>
          <p:nvPr/>
        </p:nvSpPr>
        <p:spPr>
          <a:xfrm>
            <a:off x="9912096" y="5660136"/>
            <a:ext cx="128930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LATER</a:t>
            </a:r>
          </a:p>
        </p:txBody>
      </p:sp>
      <p:sp>
        <p:nvSpPr>
          <p:cNvPr id="212" name="Rectangle 211"/>
          <p:cNvSpPr/>
          <p:nvPr/>
        </p:nvSpPr>
        <p:spPr>
          <a:xfrm>
            <a:off x="502920" y="6144768"/>
            <a:ext cx="192024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3" name="TextBox 212"/>
          <p:cNvSpPr txBox="1"/>
          <p:nvPr/>
        </p:nvSpPr>
        <p:spPr>
          <a:xfrm>
            <a:off x="566928" y="6254496"/>
            <a:ext cx="17922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19" b="1" i="0">
                <a:solidFill>
                  <a:srgbClr val="221628"/>
                </a:solidFill>
                <a:latin typeface="Aptos"/>
              </a:rPr>
              <a:t>Quality / authenticity</a:t>
            </a:r>
          </a:p>
        </p:txBody>
      </p:sp>
      <p:sp>
        <p:nvSpPr>
          <p:cNvPr id="214" name="Rectangle 213"/>
          <p:cNvSpPr/>
          <p:nvPr/>
        </p:nvSpPr>
        <p:spPr>
          <a:xfrm>
            <a:off x="2423160" y="6144768"/>
            <a:ext cx="251460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5" name="TextBox 214"/>
          <p:cNvSpPr txBox="1"/>
          <p:nvPr/>
        </p:nvSpPr>
        <p:spPr>
          <a:xfrm>
            <a:off x="2487168" y="6254496"/>
            <a:ext cx="238658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50" b="0" i="0">
                <a:solidFill>
                  <a:srgbClr val="221628"/>
                </a:solidFill>
                <a:latin typeface="Aptos"/>
              </a:rPr>
              <a:t>Reduce bad orders</a:t>
            </a:r>
          </a:p>
        </p:txBody>
      </p:sp>
      <p:sp>
        <p:nvSpPr>
          <p:cNvPr id="216" name="Rectangle 215"/>
          <p:cNvSpPr/>
          <p:nvPr/>
        </p:nvSpPr>
        <p:spPr>
          <a:xfrm>
            <a:off x="4937760" y="6144768"/>
            <a:ext cx="138988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7" name="TextBox 216"/>
          <p:cNvSpPr txBox="1"/>
          <p:nvPr/>
        </p:nvSpPr>
        <p:spPr>
          <a:xfrm>
            <a:off x="5001768" y="6254496"/>
            <a:ext cx="1261872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S / B</a:t>
            </a:r>
          </a:p>
        </p:txBody>
      </p:sp>
      <p:sp>
        <p:nvSpPr>
          <p:cNvPr id="218" name="Rectangle 217"/>
          <p:cNvSpPr/>
          <p:nvPr/>
        </p:nvSpPr>
        <p:spPr>
          <a:xfrm>
            <a:off x="6327648" y="6144768"/>
            <a:ext cx="123444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9" name="TextBox 218"/>
          <p:cNvSpPr txBox="1"/>
          <p:nvPr/>
        </p:nvSpPr>
        <p:spPr>
          <a:xfrm>
            <a:off x="6391656" y="6254496"/>
            <a:ext cx="110642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LOW</a:t>
            </a:r>
          </a:p>
        </p:txBody>
      </p:sp>
      <p:sp>
        <p:nvSpPr>
          <p:cNvPr id="220" name="Rectangle 219"/>
          <p:cNvSpPr/>
          <p:nvPr/>
        </p:nvSpPr>
        <p:spPr>
          <a:xfrm>
            <a:off x="7562088" y="6144768"/>
            <a:ext cx="114300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1" name="TextBox 220"/>
          <p:cNvSpPr txBox="1"/>
          <p:nvPr/>
        </p:nvSpPr>
        <p:spPr>
          <a:xfrm>
            <a:off x="7626096" y="6254496"/>
            <a:ext cx="10149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MED</a:t>
            </a:r>
          </a:p>
        </p:txBody>
      </p:sp>
      <p:sp>
        <p:nvSpPr>
          <p:cNvPr id="222" name="Rectangle 221"/>
          <p:cNvSpPr/>
          <p:nvPr/>
        </p:nvSpPr>
        <p:spPr>
          <a:xfrm>
            <a:off x="8705088" y="6144768"/>
            <a:ext cx="114300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3" name="TextBox 222"/>
          <p:cNvSpPr txBox="1"/>
          <p:nvPr/>
        </p:nvSpPr>
        <p:spPr>
          <a:xfrm>
            <a:off x="8769096" y="6254496"/>
            <a:ext cx="1014983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HIGH</a:t>
            </a:r>
          </a:p>
        </p:txBody>
      </p:sp>
      <p:sp>
        <p:nvSpPr>
          <p:cNvPr id="224" name="Rectangle 223"/>
          <p:cNvSpPr/>
          <p:nvPr/>
        </p:nvSpPr>
        <p:spPr>
          <a:xfrm>
            <a:off x="9848088" y="6144768"/>
            <a:ext cx="1417320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5" name="TextBox 224"/>
          <p:cNvSpPr txBox="1"/>
          <p:nvPr/>
        </p:nvSpPr>
        <p:spPr>
          <a:xfrm>
            <a:off x="9912096" y="6254496"/>
            <a:ext cx="1289304" cy="3108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50" b="0" i="0">
                <a:solidFill>
                  <a:srgbClr val="221628"/>
                </a:solidFill>
                <a:latin typeface="Aptos"/>
              </a:rPr>
              <a:t>PARALLEL</a:t>
            </a:r>
          </a:p>
        </p:txBody>
      </p:sp>
      <p:sp>
        <p:nvSpPr>
          <p:cNvPr id="226" name="Rounded Rectangle 225"/>
          <p:cNvSpPr/>
          <p:nvPr/>
        </p:nvSpPr>
        <p:spPr>
          <a:xfrm>
            <a:off x="502920" y="6876288"/>
            <a:ext cx="12664440" cy="795528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7" name="TextBox 226"/>
          <p:cNvSpPr txBox="1"/>
          <p:nvPr/>
        </p:nvSpPr>
        <p:spPr>
          <a:xfrm>
            <a:off x="749808" y="7068312"/>
            <a:ext cx="12161520" cy="3840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50" b="1" i="0">
                <a:solidFill>
                  <a:srgbClr val="FFFFFF"/>
                </a:solidFill>
                <a:latin typeface="Aptos Display"/>
              </a:rPr>
              <a:t>WINNING MOVE  →  Pilot Beauty Proof Bridge first; use observed click, order, return and creator-effort data to earn the right to build the matching engine.</a:t>
            </a:r>
          </a:p>
        </p:txBody>
      </p:sp>
      <p:sp>
        <p:nvSpPr>
          <p:cNvPr id="228" name="Oval 227"/>
          <p:cNvSpPr/>
          <p:nvPr/>
        </p:nvSpPr>
        <p:spPr>
          <a:xfrm>
            <a:off x="13569696" y="2276856"/>
            <a:ext cx="301752" cy="301752"/>
          </a:xfrm>
          <a:prstGeom prst="ellipse">
            <a:avLst/>
          </a:prstGeom>
          <a:solidFill>
            <a:srgbClr val="F24A78"/>
          </a:solidFill>
          <a:ln w="8890">
            <a:solidFill>
              <a:srgbClr val="3707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9" name="TextBox 228"/>
          <p:cNvSpPr txBox="1"/>
          <p:nvPr/>
        </p:nvSpPr>
        <p:spPr>
          <a:xfrm>
            <a:off x="13569696" y="2313432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370730"/>
                </a:solidFill>
                <a:latin typeface="Aptos"/>
              </a:rPr>
              <a:t>01</a:t>
            </a:r>
          </a:p>
        </p:txBody>
      </p:sp>
      <p:sp>
        <p:nvSpPr>
          <p:cNvPr id="230" name="TextBox 229"/>
          <p:cNvSpPr txBox="1"/>
          <p:nvPr/>
        </p:nvSpPr>
        <p:spPr>
          <a:xfrm>
            <a:off x="13990320" y="2276856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1" i="0">
                <a:solidFill>
                  <a:srgbClr val="221628"/>
                </a:solidFill>
                <a:latin typeface="Aptos"/>
              </a:rPr>
              <a:t>Uses proof creators already produce</a:t>
            </a:r>
          </a:p>
        </p:txBody>
      </p:sp>
      <p:sp>
        <p:nvSpPr>
          <p:cNvPr id="231" name="Oval 230"/>
          <p:cNvSpPr/>
          <p:nvPr/>
        </p:nvSpPr>
        <p:spPr>
          <a:xfrm>
            <a:off x="13569696" y="2971800"/>
            <a:ext cx="301752" cy="301752"/>
          </a:xfrm>
          <a:prstGeom prst="ellipse">
            <a:avLst/>
          </a:prstGeom>
          <a:solidFill>
            <a:srgbClr val="36ACC4"/>
          </a:solidFill>
          <a:ln w="8890">
            <a:solidFill>
              <a:srgbClr val="3707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2" name="TextBox 231"/>
          <p:cNvSpPr txBox="1"/>
          <p:nvPr/>
        </p:nvSpPr>
        <p:spPr>
          <a:xfrm>
            <a:off x="13569696" y="3008376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370730"/>
                </a:solidFill>
                <a:latin typeface="Aptos"/>
              </a:rPr>
              <a:t>02</a:t>
            </a:r>
          </a:p>
        </p:txBody>
      </p:sp>
      <p:sp>
        <p:nvSpPr>
          <p:cNvPr id="233" name="TextBox 232"/>
          <p:cNvSpPr txBox="1"/>
          <p:nvPr/>
        </p:nvSpPr>
        <p:spPr>
          <a:xfrm>
            <a:off x="13990320" y="2971800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1" i="0">
                <a:solidFill>
                  <a:srgbClr val="221628"/>
                </a:solidFill>
                <a:latin typeface="Aptos"/>
              </a:rPr>
              <a:t>Tests the actual commerce leak</a:t>
            </a:r>
          </a:p>
        </p:txBody>
      </p:sp>
      <p:sp>
        <p:nvSpPr>
          <p:cNvPr id="234" name="Oval 233"/>
          <p:cNvSpPr/>
          <p:nvPr/>
        </p:nvSpPr>
        <p:spPr>
          <a:xfrm>
            <a:off x="13569696" y="3666744"/>
            <a:ext cx="301752" cy="301752"/>
          </a:xfrm>
          <a:prstGeom prst="ellipse">
            <a:avLst/>
          </a:prstGeom>
          <a:solidFill>
            <a:srgbClr val="F59E0B"/>
          </a:solidFill>
          <a:ln w="8890">
            <a:solidFill>
              <a:srgbClr val="3707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5" name="TextBox 234"/>
          <p:cNvSpPr txBox="1"/>
          <p:nvPr/>
        </p:nvSpPr>
        <p:spPr>
          <a:xfrm>
            <a:off x="13569696" y="3703320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370730"/>
                </a:solidFill>
                <a:latin typeface="Aptos"/>
              </a:rPr>
              <a:t>03</a:t>
            </a:r>
          </a:p>
        </p:txBody>
      </p:sp>
      <p:sp>
        <p:nvSpPr>
          <p:cNvPr id="236" name="TextBox 235"/>
          <p:cNvSpPr txBox="1"/>
          <p:nvPr/>
        </p:nvSpPr>
        <p:spPr>
          <a:xfrm>
            <a:off x="13990320" y="3666744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1" i="0">
                <a:solidFill>
                  <a:srgbClr val="221628"/>
                </a:solidFill>
                <a:latin typeface="Aptos"/>
              </a:rPr>
              <a:t>Creates the data moat</a:t>
            </a:r>
          </a:p>
        </p:txBody>
      </p:sp>
      <p:sp>
        <p:nvSpPr>
          <p:cNvPr id="237" name="Oval 236"/>
          <p:cNvSpPr/>
          <p:nvPr/>
        </p:nvSpPr>
        <p:spPr>
          <a:xfrm>
            <a:off x="13569696" y="4361688"/>
            <a:ext cx="301752" cy="301752"/>
          </a:xfrm>
          <a:prstGeom prst="ellipse">
            <a:avLst/>
          </a:prstGeom>
          <a:solidFill>
            <a:srgbClr val="A4AB43"/>
          </a:solidFill>
          <a:ln w="8890">
            <a:solidFill>
              <a:srgbClr val="3707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8" name="TextBox 237"/>
          <p:cNvSpPr txBox="1"/>
          <p:nvPr/>
        </p:nvSpPr>
        <p:spPr>
          <a:xfrm>
            <a:off x="13569696" y="4398264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370730"/>
                </a:solidFill>
                <a:latin typeface="Aptos"/>
              </a:rPr>
              <a:t>04</a:t>
            </a:r>
          </a:p>
        </p:txBody>
      </p:sp>
      <p:sp>
        <p:nvSpPr>
          <p:cNvPr id="239" name="TextBox 238"/>
          <p:cNvSpPr txBox="1"/>
          <p:nvPr/>
        </p:nvSpPr>
        <p:spPr>
          <a:xfrm>
            <a:off x="13990320" y="4361688"/>
            <a:ext cx="338328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1" i="0">
                <a:solidFill>
                  <a:srgbClr val="221628"/>
                </a:solidFill>
                <a:latin typeface="Aptos"/>
              </a:rPr>
              <a:t>Can be killed without platform-scale build</a:t>
            </a:r>
          </a:p>
        </p:txBody>
      </p:sp>
      <p:sp>
        <p:nvSpPr>
          <p:cNvPr id="240" name="Rounded Rectangle 239"/>
          <p:cNvSpPr/>
          <p:nvPr/>
        </p:nvSpPr>
        <p:spPr>
          <a:xfrm>
            <a:off x="13459968" y="5230368"/>
            <a:ext cx="4160520" cy="1463040"/>
          </a:xfrm>
          <a:prstGeom prst="roundRect">
            <a:avLst/>
          </a:prstGeom>
          <a:solidFill>
            <a:srgbClr val="FFEFD6"/>
          </a:solidFill>
          <a:ln w="1397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1" name="TextBox 240"/>
          <p:cNvSpPr txBox="1"/>
          <p:nvPr/>
        </p:nvSpPr>
        <p:spPr>
          <a:xfrm>
            <a:off x="13679424" y="5440680"/>
            <a:ext cx="3703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F59E0B"/>
                </a:solidFill>
                <a:latin typeface="Aptos"/>
              </a:rPr>
              <a:t>CONSTRAINT</a:t>
            </a:r>
          </a:p>
        </p:txBody>
      </p:sp>
      <p:sp>
        <p:nvSpPr>
          <p:cNvPr id="242" name="TextBox 241"/>
          <p:cNvSpPr txBox="1"/>
          <p:nvPr/>
        </p:nvSpPr>
        <p:spPr>
          <a:xfrm>
            <a:off x="13679424" y="5705856"/>
            <a:ext cx="3657600" cy="6583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330" b="1" i="0">
                <a:solidFill>
                  <a:srgbClr val="370730"/>
                </a:solidFill>
                <a:latin typeface="Aptos Display"/>
              </a:rPr>
              <a:t>No invented uplift. No H0–H5 score. The pilot is the mechanism that creates the missing evidence.</a:t>
            </a:r>
          </a:p>
        </p:txBody>
      </p:sp>
      <p:sp>
        <p:nvSpPr>
          <p:cNvPr id="243" name="TextBox 242"/>
          <p:cNvSpPr txBox="1"/>
          <p:nvPr/>
        </p:nvSpPr>
        <p:spPr>
          <a:xfrm>
            <a:off x="566928" y="9857232"/>
            <a:ext cx="1709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675761"/>
                </a:solidFill>
                <a:latin typeface="Aptos"/>
              </a:rPr>
              <a:t>C = creator | S = shopper | B = brand/seller. *Evidence confidence is based on audit coverage, not Meesho conversion proof.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7E0"/>
        </a:solidFill>
        <a:effectLst/>
      </p:bgPr>
    </p:bg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4" name="Picture 113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173736"/>
            <a:ext cx="1353312" cy="673837"/>
          </a:xfrm>
          <a:prstGeom prst="rect">
            <a:avLst/>
          </a:prstGeom>
        </p:spPr>
      </p:pic>
      <p:sp>
        <p:nvSpPr>
          <p:cNvPr id="115" name="Rounded Rectangle 114"/>
          <p:cNvSpPr/>
          <p:nvPr/>
        </p:nvSpPr>
        <p:spPr>
          <a:xfrm>
            <a:off x="17080992" y="137160"/>
            <a:ext cx="786384" cy="548640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6" name="TextBox 115"/>
          <p:cNvSpPr txBox="1"/>
          <p:nvPr/>
        </p:nvSpPr>
        <p:spPr>
          <a:xfrm>
            <a:off x="17163288" y="182880"/>
            <a:ext cx="6217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F59E0B"/>
                </a:solidFill>
                <a:latin typeface="Aptos Display"/>
              </a:rPr>
              <a:t>m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17117568" y="448056"/>
            <a:ext cx="6949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ptos"/>
              </a:rPr>
              <a:t>meesho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1901952" y="237744"/>
            <a:ext cx="11704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E05579"/>
                </a:solidFill>
                <a:latin typeface="Aptos"/>
              </a:rPr>
              <a:t>ROUND 1 | QUICK WIN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1901952" y="438912"/>
            <a:ext cx="145389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370730"/>
                </a:solidFill>
                <a:latin typeface="Aptos Display"/>
              </a:rPr>
              <a:t>30 days to prove whether proof transfer moves BPC commerce.</a:t>
            </a:r>
          </a:p>
        </p:txBody>
      </p:sp>
      <p:sp>
        <p:nvSpPr>
          <p:cNvPr id="120" name="Rectangle 119"/>
          <p:cNvSpPr/>
          <p:nvPr/>
        </p:nvSpPr>
        <p:spPr>
          <a:xfrm>
            <a:off x="411480" y="1060704"/>
            <a:ext cx="17465040" cy="16510"/>
          </a:xfrm>
          <a:prstGeom prst="rect">
            <a:avLst/>
          </a:prstGeom>
          <a:solidFill>
            <a:srgbClr val="DECE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1" name="Rounded Rectangle 120"/>
          <p:cNvSpPr/>
          <p:nvPr/>
        </p:nvSpPr>
        <p:spPr>
          <a:xfrm>
            <a:off x="502920" y="1261872"/>
            <a:ext cx="17282160" cy="603504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2" name="TextBox 121"/>
          <p:cNvSpPr txBox="1"/>
          <p:nvPr/>
        </p:nvSpPr>
        <p:spPr>
          <a:xfrm>
            <a:off x="713232" y="1435608"/>
            <a:ext cx="1682496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60" b="1" i="0">
                <a:solidFill>
                  <a:srgbClr val="FFFFFF"/>
                </a:solidFill>
                <a:latin typeface="Aptos Display"/>
              </a:rPr>
              <a:t>BEAUTY PROOF BRIDGE  =  structured creator proof + attributable Meesho handoff + a killable experiment</a:t>
            </a:r>
          </a:p>
        </p:txBody>
      </p:sp>
      <p:sp>
        <p:nvSpPr>
          <p:cNvPr id="123" name="Rounded Rectangle 122"/>
          <p:cNvSpPr/>
          <p:nvPr/>
        </p:nvSpPr>
        <p:spPr>
          <a:xfrm>
            <a:off x="502920" y="2112264"/>
            <a:ext cx="17282160" cy="310896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4" name="TextBox 123"/>
          <p:cNvSpPr txBox="1"/>
          <p:nvPr/>
        </p:nvSpPr>
        <p:spPr>
          <a:xfrm>
            <a:off x="612648" y="2167128"/>
            <a:ext cx="170627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ptos"/>
              </a:rPr>
              <a:t>OPERATING MODEL | ONE SMALL COHORT, ONE MEASURABLE HANDOFF</a:t>
            </a:r>
          </a:p>
        </p:txBody>
      </p:sp>
      <p:sp>
        <p:nvSpPr>
          <p:cNvPr id="125" name="Rounded Rectangle 124"/>
          <p:cNvSpPr/>
          <p:nvPr/>
        </p:nvSpPr>
        <p:spPr>
          <a:xfrm>
            <a:off x="502920" y="2542032"/>
            <a:ext cx="4169663" cy="1298448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6" name="Rectangle 125"/>
          <p:cNvSpPr/>
          <p:nvPr/>
        </p:nvSpPr>
        <p:spPr>
          <a:xfrm>
            <a:off x="502920" y="2542032"/>
            <a:ext cx="4169663" cy="25603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7" name="TextBox 126"/>
          <p:cNvSpPr txBox="1"/>
          <p:nvPr/>
        </p:nvSpPr>
        <p:spPr>
          <a:xfrm>
            <a:off x="621792" y="2596896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1" i="0">
                <a:solidFill>
                  <a:srgbClr val="370730"/>
                </a:solidFill>
                <a:latin typeface="Aptos"/>
              </a:rPr>
              <a:t>WEEK 1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1618488" y="2587752"/>
            <a:ext cx="2834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 i="0">
                <a:solidFill>
                  <a:srgbClr val="FFFFFF"/>
                </a:solidFill>
                <a:latin typeface="Aptos"/>
              </a:rPr>
              <a:t>Select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667512" y="2953512"/>
            <a:ext cx="379476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20" b="1" i="0">
                <a:solidFill>
                  <a:srgbClr val="221628"/>
                </a:solidFill>
                <a:latin typeface="Aptos"/>
              </a:rPr>
              <a:t>10–20 hero SKUs
10 sellers
fit criteria</a:t>
            </a:r>
          </a:p>
        </p:txBody>
      </p:sp>
      <p:sp>
        <p:nvSpPr>
          <p:cNvPr id="130" name="Rounded Rectangle 129"/>
          <p:cNvSpPr/>
          <p:nvPr/>
        </p:nvSpPr>
        <p:spPr>
          <a:xfrm>
            <a:off x="4873752" y="2542032"/>
            <a:ext cx="4169663" cy="1298448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F2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1" name="Rectangle 130"/>
          <p:cNvSpPr/>
          <p:nvPr/>
        </p:nvSpPr>
        <p:spPr>
          <a:xfrm>
            <a:off x="4873752" y="2542032"/>
            <a:ext cx="4169663" cy="256032"/>
          </a:xfrm>
          <a:prstGeom prst="rect">
            <a:avLst/>
          </a:prstGeom>
          <a:solidFill>
            <a:srgbClr val="F24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2" name="TextBox 131"/>
          <p:cNvSpPr txBox="1"/>
          <p:nvPr/>
        </p:nvSpPr>
        <p:spPr>
          <a:xfrm>
            <a:off x="4992624" y="2596896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1" i="0">
                <a:solidFill>
                  <a:srgbClr val="370730"/>
                </a:solidFill>
                <a:latin typeface="Aptos"/>
              </a:rPr>
              <a:t>WEEK 2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5989320" y="2587752"/>
            <a:ext cx="2834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 i="0">
                <a:solidFill>
                  <a:srgbClr val="FFFFFF"/>
                </a:solidFill>
                <a:latin typeface="Aptos"/>
              </a:rPr>
              <a:t>Match + sample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5038344" y="2953512"/>
            <a:ext cx="379476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20" b="1" i="0">
                <a:solidFill>
                  <a:srgbClr val="221628"/>
                </a:solidFill>
                <a:latin typeface="Aptos"/>
              </a:rPr>
              <a:t>25–50 creators
relevant audience
logged cost</a:t>
            </a:r>
          </a:p>
        </p:txBody>
      </p:sp>
      <p:sp>
        <p:nvSpPr>
          <p:cNvPr id="135" name="Rounded Rectangle 134"/>
          <p:cNvSpPr/>
          <p:nvPr/>
        </p:nvSpPr>
        <p:spPr>
          <a:xfrm>
            <a:off x="9244584" y="2542032"/>
            <a:ext cx="4169663" cy="1298448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36A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6" name="Rectangle 135"/>
          <p:cNvSpPr/>
          <p:nvPr/>
        </p:nvSpPr>
        <p:spPr>
          <a:xfrm>
            <a:off x="9244584" y="2542032"/>
            <a:ext cx="4169663" cy="256032"/>
          </a:xfrm>
          <a:prstGeom prst="rect">
            <a:avLst/>
          </a:prstGeom>
          <a:solidFill>
            <a:srgbClr val="36A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9363456" y="2596896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1" i="0">
                <a:solidFill>
                  <a:srgbClr val="370730"/>
                </a:solidFill>
                <a:latin typeface="Aptos"/>
              </a:rPr>
              <a:t>WEEK 3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10360152" y="2587752"/>
            <a:ext cx="2834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 i="0">
                <a:solidFill>
                  <a:srgbClr val="FFFFFF"/>
                </a:solidFill>
                <a:latin typeface="Aptos"/>
              </a:rPr>
              <a:t>Structure + surface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409176" y="2953512"/>
            <a:ext cx="379476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20" b="1" i="0">
                <a:solidFill>
                  <a:srgbClr val="221628"/>
                </a:solidFill>
                <a:latin typeface="Aptos"/>
              </a:rPr>
              <a:t>proof fields
creator disclosure
Meesho decision asset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13615416" y="2542032"/>
            <a:ext cx="4169663" cy="1298448"/>
          </a:xfrm>
          <a:prstGeom prst="roundRect">
            <a:avLst/>
          </a:prstGeom>
          <a:solidFill>
            <a:srgbClr val="FFFFFF"/>
          </a:solidFill>
          <a:ln w="21590">
            <a:solidFill>
              <a:srgbClr val="A4AB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Rectangle 140"/>
          <p:cNvSpPr/>
          <p:nvPr/>
        </p:nvSpPr>
        <p:spPr>
          <a:xfrm>
            <a:off x="13615416" y="2542032"/>
            <a:ext cx="4169663" cy="256032"/>
          </a:xfrm>
          <a:prstGeom prst="rect">
            <a:avLst/>
          </a:prstGeom>
          <a:solidFill>
            <a:srgbClr val="A4A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2" name="TextBox 141"/>
          <p:cNvSpPr txBox="1"/>
          <p:nvPr/>
        </p:nvSpPr>
        <p:spPr>
          <a:xfrm>
            <a:off x="13734288" y="2596896"/>
            <a:ext cx="91440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30" b="1" i="0">
                <a:solidFill>
                  <a:srgbClr val="370730"/>
                </a:solidFill>
                <a:latin typeface="Aptos"/>
              </a:rPr>
              <a:t>WEEK 4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14730984" y="2587752"/>
            <a:ext cx="283464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30" b="1" i="0">
                <a:solidFill>
                  <a:srgbClr val="FFFFFF"/>
                </a:solidFill>
                <a:latin typeface="Aptos"/>
              </a:rPr>
              <a:t>Measure + decide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13780008" y="2953512"/>
            <a:ext cx="3794760" cy="6126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220" b="1" i="0">
                <a:solidFill>
                  <a:srgbClr val="221628"/>
                </a:solidFill>
                <a:latin typeface="Aptos"/>
              </a:rPr>
              <a:t>click → order
return → repeat
creator payout</a:t>
            </a:r>
          </a:p>
        </p:txBody>
      </p:sp>
      <p:sp>
        <p:nvSpPr>
          <p:cNvPr id="145" name="Rounded Rectangle 144"/>
          <p:cNvSpPr/>
          <p:nvPr/>
        </p:nvSpPr>
        <p:spPr>
          <a:xfrm>
            <a:off x="502920" y="4087368"/>
            <a:ext cx="11109960" cy="310896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6" name="TextBox 145"/>
          <p:cNvSpPr txBox="1"/>
          <p:nvPr/>
        </p:nvSpPr>
        <p:spPr>
          <a:xfrm>
            <a:off x="612648" y="4142232"/>
            <a:ext cx="108905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ptos"/>
              </a:rPr>
              <a:t>THREE-SIDED WORKFLOW</a:t>
            </a:r>
          </a:p>
        </p:txBody>
      </p:sp>
      <p:sp>
        <p:nvSpPr>
          <p:cNvPr id="147" name="Rounded Rectangle 146"/>
          <p:cNvSpPr/>
          <p:nvPr/>
        </p:nvSpPr>
        <p:spPr>
          <a:xfrm>
            <a:off x="502920" y="4489704"/>
            <a:ext cx="1110996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8" name="Rounded Rectangle 147"/>
          <p:cNvSpPr/>
          <p:nvPr/>
        </p:nvSpPr>
        <p:spPr>
          <a:xfrm>
            <a:off x="694944" y="4672584"/>
            <a:ext cx="1417320" cy="310896"/>
          </a:xfrm>
          <a:prstGeom prst="roundRect">
            <a:avLst/>
          </a:prstGeom>
          <a:solidFill>
            <a:srgbClr val="F24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694944" y="4681728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CREATOR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331720" y="4645152"/>
            <a:ext cx="89428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21628"/>
                </a:solidFill>
                <a:latin typeface="Aptos"/>
              </a:rPr>
              <a:t>Receive relevant SKU → publish structured proof → tag/link → see attributed outcomes</a:t>
            </a:r>
          </a:p>
        </p:txBody>
      </p:sp>
      <p:sp>
        <p:nvSpPr>
          <p:cNvPr id="151" name="Rounded Rectangle 150"/>
          <p:cNvSpPr/>
          <p:nvPr/>
        </p:nvSpPr>
        <p:spPr>
          <a:xfrm>
            <a:off x="502920" y="5248656"/>
            <a:ext cx="1110996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2" name="Rounded Rectangle 151"/>
          <p:cNvSpPr/>
          <p:nvPr/>
        </p:nvSpPr>
        <p:spPr>
          <a:xfrm>
            <a:off x="694944" y="5431536"/>
            <a:ext cx="1417320" cy="31089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694944" y="5440680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SELLER / BRAND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2331720" y="5404104"/>
            <a:ext cx="89428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21628"/>
                </a:solidFill>
                <a:latin typeface="Aptos"/>
              </a:rPr>
              <a:t>Nominate fit-ready SKUs → fund or approve trial → see quality + demand signals</a:t>
            </a:r>
          </a:p>
        </p:txBody>
      </p:sp>
      <p:sp>
        <p:nvSpPr>
          <p:cNvPr id="155" name="Rounded Rectangle 154"/>
          <p:cNvSpPr/>
          <p:nvPr/>
        </p:nvSpPr>
        <p:spPr>
          <a:xfrm>
            <a:off x="502920" y="6007608"/>
            <a:ext cx="11109960" cy="658368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6" name="Rounded Rectangle 155"/>
          <p:cNvSpPr/>
          <p:nvPr/>
        </p:nvSpPr>
        <p:spPr>
          <a:xfrm>
            <a:off x="694944" y="6190488"/>
            <a:ext cx="1417320" cy="310896"/>
          </a:xfrm>
          <a:prstGeom prst="roundRect">
            <a:avLst/>
          </a:prstGeom>
          <a:solidFill>
            <a:srgbClr val="36A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694944" y="6199632"/>
            <a:ext cx="1417320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SHOPPER</a:t>
            </a:r>
          </a:p>
        </p:txBody>
      </p:sp>
      <p:sp>
        <p:nvSpPr>
          <p:cNvPr id="158" name="TextBox 157"/>
          <p:cNvSpPr txBox="1"/>
          <p:nvPr/>
        </p:nvSpPr>
        <p:spPr>
          <a:xfrm>
            <a:off x="2331720" y="6163056"/>
            <a:ext cx="8942832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21628"/>
                </a:solidFill>
                <a:latin typeface="Aptos"/>
              </a:rPr>
              <a:t>Discover proof → resolve fit/shade/texture → click → buy → rate/reorder</a:t>
            </a:r>
          </a:p>
        </p:txBody>
      </p:sp>
      <p:sp>
        <p:nvSpPr>
          <p:cNvPr id="159" name="Rounded Rectangle 158"/>
          <p:cNvSpPr/>
          <p:nvPr/>
        </p:nvSpPr>
        <p:spPr>
          <a:xfrm>
            <a:off x="11932920" y="4087368"/>
            <a:ext cx="5852160" cy="31089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0" name="TextBox 159"/>
          <p:cNvSpPr txBox="1"/>
          <p:nvPr/>
        </p:nvSpPr>
        <p:spPr>
          <a:xfrm>
            <a:off x="12042648" y="4142232"/>
            <a:ext cx="56327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ptos"/>
              </a:rPr>
              <a:t>INSTRUMENTATION + KILL RULE</a:t>
            </a:r>
          </a:p>
        </p:txBody>
      </p:sp>
      <p:sp>
        <p:nvSpPr>
          <p:cNvPr id="161" name="Oval 160"/>
          <p:cNvSpPr/>
          <p:nvPr/>
        </p:nvSpPr>
        <p:spPr>
          <a:xfrm>
            <a:off x="12088368" y="4535424"/>
            <a:ext cx="301752" cy="301752"/>
          </a:xfrm>
          <a:prstGeom prst="ellipse">
            <a:avLst/>
          </a:prstGeom>
          <a:solidFill>
            <a:srgbClr val="F59E0B"/>
          </a:solidFill>
          <a:ln w="8890">
            <a:solidFill>
              <a:srgbClr val="3707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2" name="TextBox 161"/>
          <p:cNvSpPr txBox="1"/>
          <p:nvPr/>
        </p:nvSpPr>
        <p:spPr>
          <a:xfrm>
            <a:off x="12088368" y="4572000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370730"/>
                </a:solidFill>
                <a:latin typeface="Aptos"/>
              </a:rPr>
              <a:t>•</a:t>
            </a:r>
          </a:p>
        </p:txBody>
      </p:sp>
      <p:sp>
        <p:nvSpPr>
          <p:cNvPr id="163" name="TextBox 162"/>
          <p:cNvSpPr txBox="1"/>
          <p:nvPr/>
        </p:nvSpPr>
        <p:spPr>
          <a:xfrm>
            <a:off x="12508992" y="4526280"/>
            <a:ext cx="49834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0" b="1" i="0">
                <a:solidFill>
                  <a:srgbClr val="370730"/>
                </a:solidFill>
                <a:latin typeface="Aptos"/>
              </a:rPr>
              <a:t>IDs</a:t>
            </a:r>
          </a:p>
        </p:txBody>
      </p:sp>
      <p:sp>
        <p:nvSpPr>
          <p:cNvPr id="164" name="TextBox 163"/>
          <p:cNvSpPr txBox="1"/>
          <p:nvPr/>
        </p:nvSpPr>
        <p:spPr>
          <a:xfrm>
            <a:off x="12508992" y="4718304"/>
            <a:ext cx="48463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221628"/>
                </a:solidFill>
                <a:latin typeface="Aptos"/>
              </a:rPr>
              <a:t>creator / SKU / audience / treatment</a:t>
            </a:r>
          </a:p>
        </p:txBody>
      </p:sp>
      <p:sp>
        <p:nvSpPr>
          <p:cNvPr id="165" name="Oval 164"/>
          <p:cNvSpPr/>
          <p:nvPr/>
        </p:nvSpPr>
        <p:spPr>
          <a:xfrm>
            <a:off x="12088368" y="5138928"/>
            <a:ext cx="301752" cy="301752"/>
          </a:xfrm>
          <a:prstGeom prst="ellipse">
            <a:avLst/>
          </a:prstGeom>
          <a:solidFill>
            <a:srgbClr val="F59E0B"/>
          </a:solidFill>
          <a:ln w="8890">
            <a:solidFill>
              <a:srgbClr val="3707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6" name="TextBox 165"/>
          <p:cNvSpPr txBox="1"/>
          <p:nvPr/>
        </p:nvSpPr>
        <p:spPr>
          <a:xfrm>
            <a:off x="12088368" y="5175504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370730"/>
                </a:solidFill>
                <a:latin typeface="Aptos"/>
              </a:rPr>
              <a:t>•</a:t>
            </a:r>
          </a:p>
        </p:txBody>
      </p:sp>
      <p:sp>
        <p:nvSpPr>
          <p:cNvPr id="167" name="TextBox 166"/>
          <p:cNvSpPr txBox="1"/>
          <p:nvPr/>
        </p:nvSpPr>
        <p:spPr>
          <a:xfrm>
            <a:off x="12508992" y="5129784"/>
            <a:ext cx="49834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0" b="1" i="0">
                <a:solidFill>
                  <a:srgbClr val="370730"/>
                </a:solidFill>
                <a:latin typeface="Aptos"/>
              </a:rPr>
              <a:t>Events</a:t>
            </a:r>
          </a:p>
        </p:txBody>
      </p:sp>
      <p:sp>
        <p:nvSpPr>
          <p:cNvPr id="168" name="TextBox 167"/>
          <p:cNvSpPr txBox="1"/>
          <p:nvPr/>
        </p:nvSpPr>
        <p:spPr>
          <a:xfrm>
            <a:off x="12508992" y="5321808"/>
            <a:ext cx="48463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221628"/>
                </a:solidFill>
                <a:latin typeface="Aptos"/>
              </a:rPr>
              <a:t>view → click → PDP → order → return</a:t>
            </a:r>
          </a:p>
        </p:txBody>
      </p:sp>
      <p:sp>
        <p:nvSpPr>
          <p:cNvPr id="169" name="Oval 168"/>
          <p:cNvSpPr/>
          <p:nvPr/>
        </p:nvSpPr>
        <p:spPr>
          <a:xfrm>
            <a:off x="12088368" y="5742432"/>
            <a:ext cx="301752" cy="301752"/>
          </a:xfrm>
          <a:prstGeom prst="ellipse">
            <a:avLst/>
          </a:prstGeom>
          <a:solidFill>
            <a:srgbClr val="F59E0B"/>
          </a:solidFill>
          <a:ln w="8890">
            <a:solidFill>
              <a:srgbClr val="3707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0" name="TextBox 169"/>
          <p:cNvSpPr txBox="1"/>
          <p:nvPr/>
        </p:nvSpPr>
        <p:spPr>
          <a:xfrm>
            <a:off x="12088368" y="5779008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370730"/>
                </a:solidFill>
                <a:latin typeface="Aptos"/>
              </a:rPr>
              <a:t>•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2508992" y="5733288"/>
            <a:ext cx="49834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0" b="1" i="0">
                <a:solidFill>
                  <a:srgbClr val="370730"/>
                </a:solidFill>
                <a:latin typeface="Aptos"/>
              </a:rPr>
              <a:t>Effort</a:t>
            </a:r>
          </a:p>
        </p:txBody>
      </p:sp>
      <p:sp>
        <p:nvSpPr>
          <p:cNvPr id="172" name="TextBox 171"/>
          <p:cNvSpPr txBox="1"/>
          <p:nvPr/>
        </p:nvSpPr>
        <p:spPr>
          <a:xfrm>
            <a:off x="12508992" y="5925312"/>
            <a:ext cx="48463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221628"/>
                </a:solidFill>
                <a:latin typeface="Aptos"/>
              </a:rPr>
              <a:t>sample cost + creator time + payout</a:t>
            </a:r>
          </a:p>
        </p:txBody>
      </p:sp>
      <p:sp>
        <p:nvSpPr>
          <p:cNvPr id="173" name="Oval 172"/>
          <p:cNvSpPr/>
          <p:nvPr/>
        </p:nvSpPr>
        <p:spPr>
          <a:xfrm>
            <a:off x="12088368" y="6345936"/>
            <a:ext cx="301752" cy="301752"/>
          </a:xfrm>
          <a:prstGeom prst="ellipse">
            <a:avLst/>
          </a:prstGeom>
          <a:solidFill>
            <a:srgbClr val="F59E0B"/>
          </a:solidFill>
          <a:ln w="8890">
            <a:solidFill>
              <a:srgbClr val="3707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12088368" y="6382512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370730"/>
                </a:solidFill>
                <a:latin typeface="Aptos"/>
              </a:rPr>
              <a:t>•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2508992" y="6336792"/>
            <a:ext cx="4983480" cy="15544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0" b="1" i="0">
                <a:solidFill>
                  <a:srgbClr val="370730"/>
                </a:solidFill>
                <a:latin typeface="Aptos"/>
              </a:rPr>
              <a:t>Quality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2508992" y="6528816"/>
            <a:ext cx="484632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80" b="0" i="0">
                <a:solidFill>
                  <a:srgbClr val="221628"/>
                </a:solidFill>
                <a:latin typeface="Aptos"/>
              </a:rPr>
              <a:t>rating + defect + repeat signal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2033504" y="6922008"/>
            <a:ext cx="5605272" cy="960120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TextBox 177"/>
          <p:cNvSpPr txBox="1"/>
          <p:nvPr/>
        </p:nvSpPr>
        <p:spPr>
          <a:xfrm>
            <a:off x="12271248" y="7123176"/>
            <a:ext cx="513892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1" i="0">
                <a:solidFill>
                  <a:srgbClr val="F59E0B"/>
                </a:solidFill>
                <a:latin typeface="Aptos"/>
              </a:rPr>
              <a:t>KILL / SCALE</a:t>
            </a:r>
          </a:p>
        </p:txBody>
      </p:sp>
      <p:sp>
        <p:nvSpPr>
          <p:cNvPr id="179" name="TextBox 178"/>
          <p:cNvSpPr txBox="1"/>
          <p:nvPr/>
        </p:nvSpPr>
        <p:spPr>
          <a:xfrm>
            <a:off x="12271248" y="7406640"/>
            <a:ext cx="5084064" cy="28346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80" b="1" i="0">
                <a:solidFill>
                  <a:srgbClr val="FFFFFF"/>
                </a:solidFill>
                <a:latin typeface="Aptos"/>
              </a:rPr>
              <a:t>Scale only if treatment beats control on the handoff without uneconomic creator effort or sample cost.</a:t>
            </a:r>
          </a:p>
        </p:txBody>
      </p:sp>
      <p:sp>
        <p:nvSpPr>
          <p:cNvPr id="180" name="Rounded Rectangle 179"/>
          <p:cNvSpPr/>
          <p:nvPr/>
        </p:nvSpPr>
        <p:spPr>
          <a:xfrm>
            <a:off x="502920" y="7059168"/>
            <a:ext cx="11109960" cy="822960"/>
          </a:xfrm>
          <a:prstGeom prst="roundRect">
            <a:avLst/>
          </a:prstGeom>
          <a:solidFill>
            <a:srgbClr val="FFE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1" name="TextBox 180"/>
          <p:cNvSpPr txBox="1"/>
          <p:nvPr/>
        </p:nvSpPr>
        <p:spPr>
          <a:xfrm>
            <a:off x="758952" y="7260336"/>
            <a:ext cx="106070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600" b="1" i="0">
                <a:solidFill>
                  <a:srgbClr val="370730"/>
                </a:solidFill>
                <a:latin typeface="Aptos Display"/>
              </a:rPr>
              <a:t>PILOT  →  MEASURED HANDOFF  →  LEARN  →  SCALE OR KILL</a:t>
            </a:r>
          </a:p>
        </p:txBody>
      </p:sp>
      <p:sp>
        <p:nvSpPr>
          <p:cNvPr id="182" name="TextBox 181"/>
          <p:cNvSpPr txBox="1"/>
          <p:nvPr/>
        </p:nvSpPr>
        <p:spPr>
          <a:xfrm>
            <a:off x="566928" y="9857232"/>
            <a:ext cx="1709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675761"/>
                </a:solidFill>
                <a:latin typeface="Aptos"/>
              </a:rPr>
              <a:t>All cohort sizes and metrics are proposed operating parameters. The pilot exists to generate Meesho-specific evidence.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FF7E0"/>
        </a:solidFill>
        <a:effectLst/>
      </p:bgPr>
    </p:bg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6" name="Picture 125" descr="image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1480" y="173736"/>
            <a:ext cx="1353312" cy="673837"/>
          </a:xfrm>
          <a:prstGeom prst="rect">
            <a:avLst/>
          </a:prstGeom>
        </p:spPr>
      </p:pic>
      <p:sp>
        <p:nvSpPr>
          <p:cNvPr id="127" name="Rounded Rectangle 126"/>
          <p:cNvSpPr/>
          <p:nvPr/>
        </p:nvSpPr>
        <p:spPr>
          <a:xfrm>
            <a:off x="17080992" y="137160"/>
            <a:ext cx="786384" cy="548640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8" name="TextBox 127"/>
          <p:cNvSpPr txBox="1"/>
          <p:nvPr/>
        </p:nvSpPr>
        <p:spPr>
          <a:xfrm>
            <a:off x="17163288" y="182880"/>
            <a:ext cx="6217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F59E0B"/>
                </a:solidFill>
                <a:latin typeface="Aptos Display"/>
              </a:rPr>
              <a:t>m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17117568" y="448056"/>
            <a:ext cx="6949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ptos"/>
              </a:rPr>
              <a:t>meesho</a:t>
            </a:r>
          </a:p>
        </p:txBody>
      </p:sp>
      <p:sp>
        <p:nvSpPr>
          <p:cNvPr id="130" name="TextBox 129"/>
          <p:cNvSpPr txBox="1"/>
          <p:nvPr/>
        </p:nvSpPr>
        <p:spPr>
          <a:xfrm>
            <a:off x="1901952" y="237744"/>
            <a:ext cx="11704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E05579"/>
                </a:solidFill>
                <a:latin typeface="Aptos"/>
              </a:rPr>
              <a:t>APPENDIX | RESEARCH QUALITY</a:t>
            </a:r>
          </a:p>
        </p:txBody>
      </p:sp>
      <p:sp>
        <p:nvSpPr>
          <p:cNvPr id="131" name="TextBox 130"/>
          <p:cNvSpPr txBox="1"/>
          <p:nvPr/>
        </p:nvSpPr>
        <p:spPr>
          <a:xfrm>
            <a:off x="1901952" y="438912"/>
            <a:ext cx="145389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370730"/>
                </a:solidFill>
                <a:latin typeface="Aptos Display"/>
              </a:rPr>
              <a:t>Evidence architecture: every claim has a status.</a:t>
            </a:r>
          </a:p>
        </p:txBody>
      </p:sp>
      <p:sp>
        <p:nvSpPr>
          <p:cNvPr id="132" name="Rectangle 131"/>
          <p:cNvSpPr/>
          <p:nvPr/>
        </p:nvSpPr>
        <p:spPr>
          <a:xfrm>
            <a:off x="411480" y="1060704"/>
            <a:ext cx="17465040" cy="16510"/>
          </a:xfrm>
          <a:prstGeom prst="rect">
            <a:avLst/>
          </a:prstGeom>
          <a:solidFill>
            <a:srgbClr val="DECE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3" name="TextBox 132"/>
          <p:cNvSpPr txBox="1"/>
          <p:nvPr/>
        </p:nvSpPr>
        <p:spPr>
          <a:xfrm>
            <a:off x="502920" y="1261872"/>
            <a:ext cx="1664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75761"/>
                </a:solidFill>
                <a:latin typeface="Aptos"/>
              </a:rPr>
              <a:t>We separate what was seen, what is public, what is inferred and what is still missing so the case stays defensible under challenge.</a:t>
            </a:r>
          </a:p>
        </p:txBody>
      </p:sp>
      <p:sp>
        <p:nvSpPr>
          <p:cNvPr id="134" name="Rounded Rectangle 133"/>
          <p:cNvSpPr/>
          <p:nvPr/>
        </p:nvSpPr>
        <p:spPr>
          <a:xfrm>
            <a:off x="502920" y="1755648"/>
            <a:ext cx="11064240" cy="310896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5" name="TextBox 134"/>
          <p:cNvSpPr txBox="1"/>
          <p:nvPr/>
        </p:nvSpPr>
        <p:spPr>
          <a:xfrm>
            <a:off x="612648" y="1810512"/>
            <a:ext cx="1084478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ptos"/>
              </a:rPr>
              <a:t>RESEARCH STATUS BOARD</a:t>
            </a:r>
          </a:p>
        </p:txBody>
      </p:sp>
      <p:sp>
        <p:nvSpPr>
          <p:cNvPr id="136" name="Rounded Rectangle 135"/>
          <p:cNvSpPr/>
          <p:nvPr/>
        </p:nvSpPr>
        <p:spPr>
          <a:xfrm>
            <a:off x="11905488" y="1755648"/>
            <a:ext cx="5879592" cy="31089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7" name="TextBox 136"/>
          <p:cNvSpPr txBox="1"/>
          <p:nvPr/>
        </p:nvSpPr>
        <p:spPr>
          <a:xfrm>
            <a:off x="12015216" y="1810512"/>
            <a:ext cx="5660136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ptos"/>
              </a:rPr>
              <a:t>SUBMISSION GUARDRAILS</a:t>
            </a:r>
          </a:p>
        </p:txBody>
      </p:sp>
      <p:sp>
        <p:nvSpPr>
          <p:cNvPr id="138" name="Rounded Rectangle 137"/>
          <p:cNvSpPr/>
          <p:nvPr/>
        </p:nvSpPr>
        <p:spPr>
          <a:xfrm>
            <a:off x="502920" y="2176272"/>
            <a:ext cx="2212848" cy="768096"/>
          </a:xfrm>
          <a:prstGeom prst="round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9" name="TextBox 138"/>
          <p:cNvSpPr txBox="1"/>
          <p:nvPr/>
        </p:nvSpPr>
        <p:spPr>
          <a:xfrm>
            <a:off x="649224" y="2359152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FFFFFF"/>
                </a:solidFill>
                <a:latin typeface="Aptos"/>
              </a:rPr>
              <a:t>DIRECT OBSERVATION</a:t>
            </a:r>
          </a:p>
        </p:txBody>
      </p:sp>
      <p:sp>
        <p:nvSpPr>
          <p:cNvPr id="140" name="Rounded Rectangle 139"/>
          <p:cNvSpPr/>
          <p:nvPr/>
        </p:nvSpPr>
        <p:spPr>
          <a:xfrm>
            <a:off x="2880360" y="2176272"/>
            <a:ext cx="4005072" cy="76809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1" name="TextBox 140"/>
          <p:cNvSpPr txBox="1"/>
          <p:nvPr/>
        </p:nvSpPr>
        <p:spPr>
          <a:xfrm>
            <a:off x="3054096" y="235000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 i="0">
                <a:solidFill>
                  <a:srgbClr val="221628"/>
                </a:solidFill>
                <a:latin typeface="Aptos"/>
              </a:rPr>
              <a:t>CCA manual-quality content audit: 28 accessible records.</a:t>
            </a:r>
          </a:p>
        </p:txBody>
      </p:sp>
      <p:sp>
        <p:nvSpPr>
          <p:cNvPr id="142" name="Rounded Rectangle 141"/>
          <p:cNvSpPr/>
          <p:nvPr/>
        </p:nvSpPr>
        <p:spPr>
          <a:xfrm>
            <a:off x="7040880" y="2176272"/>
            <a:ext cx="4526280" cy="768096"/>
          </a:xfrm>
          <a:prstGeom prst="roundRect">
            <a:avLst/>
          </a:prstGeom>
          <a:solidFill>
            <a:srgbClr val="F6E8F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3" name="TextBox 142"/>
          <p:cNvSpPr txBox="1"/>
          <p:nvPr/>
        </p:nvSpPr>
        <p:spPr>
          <a:xfrm>
            <a:off x="7242048" y="2350008"/>
            <a:ext cx="415137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1" i="0">
                <a:solidFill>
                  <a:srgbClr val="370730"/>
                </a:solidFill>
                <a:latin typeface="Aptos"/>
              </a:rPr>
              <a:t>May support capability claims</a:t>
            </a:r>
          </a:p>
        </p:txBody>
      </p:sp>
      <p:sp>
        <p:nvSpPr>
          <p:cNvPr id="144" name="Rounded Rectangle 143"/>
          <p:cNvSpPr/>
          <p:nvPr/>
        </p:nvSpPr>
        <p:spPr>
          <a:xfrm>
            <a:off x="502920" y="3108960"/>
            <a:ext cx="2212848" cy="768096"/>
          </a:xfrm>
          <a:prstGeom prst="roundRect">
            <a:avLst/>
          </a:prstGeom>
          <a:solidFill>
            <a:srgbClr val="36A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5" name="TextBox 144"/>
          <p:cNvSpPr txBox="1"/>
          <p:nvPr/>
        </p:nvSpPr>
        <p:spPr>
          <a:xfrm>
            <a:off x="649224" y="3291840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FFFFFF"/>
                </a:solidFill>
                <a:latin typeface="Aptos"/>
              </a:rPr>
              <a:t>PUBLIC ARTIFACT</a:t>
            </a:r>
          </a:p>
        </p:txBody>
      </p:sp>
      <p:sp>
        <p:nvSpPr>
          <p:cNvPr id="146" name="Rounded Rectangle 145"/>
          <p:cNvSpPr/>
          <p:nvPr/>
        </p:nvSpPr>
        <p:spPr>
          <a:xfrm>
            <a:off x="2880360" y="3108960"/>
            <a:ext cx="4005072" cy="76809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7" name="TextBox 146"/>
          <p:cNvSpPr txBox="1"/>
          <p:nvPr/>
        </p:nvSpPr>
        <p:spPr>
          <a:xfrm>
            <a:off x="3054096" y="3282696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 i="0">
                <a:solidFill>
                  <a:srgbClr val="221628"/>
                </a:solidFill>
                <a:latin typeface="Aptos"/>
              </a:rPr>
              <a:t>Official program / platform documentation and public pages.</a:t>
            </a:r>
          </a:p>
        </p:txBody>
      </p:sp>
      <p:sp>
        <p:nvSpPr>
          <p:cNvPr id="148" name="Rounded Rectangle 147"/>
          <p:cNvSpPr/>
          <p:nvPr/>
        </p:nvSpPr>
        <p:spPr>
          <a:xfrm>
            <a:off x="7040880" y="3108960"/>
            <a:ext cx="4526280" cy="768096"/>
          </a:xfrm>
          <a:prstGeom prst="roundRect">
            <a:avLst/>
          </a:prstGeom>
          <a:solidFill>
            <a:srgbClr val="FFE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9" name="TextBox 148"/>
          <p:cNvSpPr txBox="1"/>
          <p:nvPr/>
        </p:nvSpPr>
        <p:spPr>
          <a:xfrm>
            <a:off x="7242048" y="3282696"/>
            <a:ext cx="415137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1" i="0">
                <a:solidFill>
                  <a:srgbClr val="370730"/>
                </a:solidFill>
                <a:latin typeface="Aptos"/>
              </a:rPr>
              <a:t>May support capability existence</a:t>
            </a:r>
          </a:p>
        </p:txBody>
      </p:sp>
      <p:sp>
        <p:nvSpPr>
          <p:cNvPr id="150" name="Rounded Rectangle 149"/>
          <p:cNvSpPr/>
          <p:nvPr/>
        </p:nvSpPr>
        <p:spPr>
          <a:xfrm>
            <a:off x="502920" y="4041648"/>
            <a:ext cx="2212848" cy="76809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1" name="TextBox 150"/>
          <p:cNvSpPr txBox="1"/>
          <p:nvPr/>
        </p:nvSpPr>
        <p:spPr>
          <a:xfrm>
            <a:off x="649224" y="4224528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FFFFFF"/>
                </a:solidFill>
                <a:latin typeface="Aptos"/>
              </a:rPr>
              <a:t>INFERENCE</a:t>
            </a:r>
          </a:p>
        </p:txBody>
      </p:sp>
      <p:sp>
        <p:nvSpPr>
          <p:cNvPr id="152" name="Rounded Rectangle 151"/>
          <p:cNvSpPr/>
          <p:nvPr/>
        </p:nvSpPr>
        <p:spPr>
          <a:xfrm>
            <a:off x="2880360" y="4041648"/>
            <a:ext cx="4005072" cy="76809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3" name="TextBox 152"/>
          <p:cNvSpPr txBox="1"/>
          <p:nvPr/>
        </p:nvSpPr>
        <p:spPr>
          <a:xfrm>
            <a:off x="3054096" y="4215384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 i="0">
                <a:solidFill>
                  <a:srgbClr val="221628"/>
                </a:solidFill>
                <a:latin typeface="Aptos"/>
              </a:rPr>
              <a:t>Proof handoff is a plausible addressable leak.</a:t>
            </a:r>
          </a:p>
        </p:txBody>
      </p:sp>
      <p:sp>
        <p:nvSpPr>
          <p:cNvPr id="154" name="Rounded Rectangle 153"/>
          <p:cNvSpPr/>
          <p:nvPr/>
        </p:nvSpPr>
        <p:spPr>
          <a:xfrm>
            <a:off x="7040880" y="4041648"/>
            <a:ext cx="4526280" cy="768096"/>
          </a:xfrm>
          <a:prstGeom prst="roundRect">
            <a:avLst/>
          </a:prstGeom>
          <a:solidFill>
            <a:srgbClr val="FFE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5" name="TextBox 154"/>
          <p:cNvSpPr txBox="1"/>
          <p:nvPr/>
        </p:nvSpPr>
        <p:spPr>
          <a:xfrm>
            <a:off x="7242048" y="4215384"/>
            <a:ext cx="415137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1" i="0">
                <a:solidFill>
                  <a:srgbClr val="370730"/>
                </a:solidFill>
                <a:latin typeface="Aptos"/>
              </a:rPr>
              <a:t>Must be labelled diagnosis</a:t>
            </a:r>
          </a:p>
        </p:txBody>
      </p:sp>
      <p:sp>
        <p:nvSpPr>
          <p:cNvPr id="156" name="Rounded Rectangle 155"/>
          <p:cNvSpPr/>
          <p:nvPr/>
        </p:nvSpPr>
        <p:spPr>
          <a:xfrm>
            <a:off x="502920" y="4974336"/>
            <a:ext cx="2212848" cy="768096"/>
          </a:xfrm>
          <a:prstGeom prst="roundRect">
            <a:avLst/>
          </a:prstGeom>
          <a:solidFill>
            <a:srgbClr val="E055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7" name="TextBox 156"/>
          <p:cNvSpPr txBox="1"/>
          <p:nvPr/>
        </p:nvSpPr>
        <p:spPr>
          <a:xfrm>
            <a:off x="649224" y="5157216"/>
            <a:ext cx="192024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FFFFFF"/>
                </a:solidFill>
                <a:latin typeface="Aptos"/>
              </a:rPr>
              <a:t>PENDING</a:t>
            </a:r>
          </a:p>
        </p:txBody>
      </p:sp>
      <p:sp>
        <p:nvSpPr>
          <p:cNvPr id="158" name="Rounded Rectangle 157"/>
          <p:cNvSpPr/>
          <p:nvPr/>
        </p:nvSpPr>
        <p:spPr>
          <a:xfrm>
            <a:off x="2880360" y="4974336"/>
            <a:ext cx="4005072" cy="76809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9" name="TextBox 158"/>
          <p:cNvSpPr txBox="1"/>
          <p:nvPr/>
        </p:nvSpPr>
        <p:spPr>
          <a:xfrm>
            <a:off x="3054096" y="5148072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 i="0">
                <a:solidFill>
                  <a:srgbClr val="221628"/>
                </a:solidFill>
                <a:latin typeface="Aptos"/>
              </a:rPr>
              <a:t>Meesho conversion, repeat, earnings, respondent evidence.</a:t>
            </a:r>
          </a:p>
        </p:txBody>
      </p:sp>
      <p:sp>
        <p:nvSpPr>
          <p:cNvPr id="160" name="Rounded Rectangle 159"/>
          <p:cNvSpPr/>
          <p:nvPr/>
        </p:nvSpPr>
        <p:spPr>
          <a:xfrm>
            <a:off x="7040880" y="4974336"/>
            <a:ext cx="4526280" cy="768096"/>
          </a:xfrm>
          <a:prstGeom prst="roundRect">
            <a:avLst/>
          </a:prstGeom>
          <a:solidFill>
            <a:srgbClr val="FFE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1" name="TextBox 160"/>
          <p:cNvSpPr txBox="1"/>
          <p:nvPr/>
        </p:nvSpPr>
        <p:spPr>
          <a:xfrm>
            <a:off x="7242048" y="5148072"/>
            <a:ext cx="4151376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1" i="0">
                <a:solidFill>
                  <a:srgbClr val="370730"/>
                </a:solidFill>
                <a:latin typeface="Aptos"/>
              </a:rPr>
              <a:t>Cannot be called validated</a:t>
            </a:r>
          </a:p>
        </p:txBody>
      </p:sp>
      <p:sp>
        <p:nvSpPr>
          <p:cNvPr id="162" name="Rounded Rectangle 161"/>
          <p:cNvSpPr/>
          <p:nvPr/>
        </p:nvSpPr>
        <p:spPr>
          <a:xfrm>
            <a:off x="11905488" y="2212848"/>
            <a:ext cx="5879592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3" name="Oval 162"/>
          <p:cNvSpPr/>
          <p:nvPr/>
        </p:nvSpPr>
        <p:spPr>
          <a:xfrm>
            <a:off x="12115800" y="2423160"/>
            <a:ext cx="301752" cy="301752"/>
          </a:xfrm>
          <a:prstGeom prst="ellipse">
            <a:avLst/>
          </a:prstGeom>
          <a:solidFill>
            <a:srgbClr val="F59E0B"/>
          </a:solidFill>
          <a:ln w="8890">
            <a:solidFill>
              <a:srgbClr val="3707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4" name="TextBox 163"/>
          <p:cNvSpPr txBox="1"/>
          <p:nvPr/>
        </p:nvSpPr>
        <p:spPr>
          <a:xfrm>
            <a:off x="12115800" y="2459736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370730"/>
                </a:solidFill>
                <a:latin typeface="Aptos"/>
              </a:rPr>
              <a:t>!</a:t>
            </a:r>
          </a:p>
        </p:txBody>
      </p:sp>
      <p:sp>
        <p:nvSpPr>
          <p:cNvPr id="165" name="TextBox 164"/>
          <p:cNvSpPr txBox="1"/>
          <p:nvPr/>
        </p:nvSpPr>
        <p:spPr>
          <a:xfrm>
            <a:off x="12545568" y="2322576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0" b="1" i="0">
                <a:solidFill>
                  <a:srgbClr val="370730"/>
                </a:solidFill>
                <a:latin typeface="Aptos"/>
              </a:rPr>
              <a:t>NO FABRICATED TIMESTAMPS</a:t>
            </a:r>
          </a:p>
        </p:txBody>
      </p:sp>
      <p:sp>
        <p:nvSpPr>
          <p:cNvPr id="166" name="TextBox 165"/>
          <p:cNvSpPr txBox="1"/>
          <p:nvPr/>
        </p:nvSpPr>
        <p:spPr>
          <a:xfrm>
            <a:off x="12545568" y="2551176"/>
            <a:ext cx="48920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90" b="0" i="0">
                <a:solidFill>
                  <a:srgbClr val="221628"/>
                </a:solidFill>
                <a:latin typeface="Aptos"/>
              </a:rPr>
              <a:t>Sequential transcript logs are not line-level timecodes.</a:t>
            </a:r>
          </a:p>
        </p:txBody>
      </p:sp>
      <p:sp>
        <p:nvSpPr>
          <p:cNvPr id="167" name="Rounded Rectangle 166"/>
          <p:cNvSpPr/>
          <p:nvPr/>
        </p:nvSpPr>
        <p:spPr>
          <a:xfrm>
            <a:off x="11905488" y="3081528"/>
            <a:ext cx="5879592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8" name="Oval 167"/>
          <p:cNvSpPr/>
          <p:nvPr/>
        </p:nvSpPr>
        <p:spPr>
          <a:xfrm>
            <a:off x="12115800" y="3291840"/>
            <a:ext cx="301752" cy="301752"/>
          </a:xfrm>
          <a:prstGeom prst="ellipse">
            <a:avLst/>
          </a:prstGeom>
          <a:solidFill>
            <a:srgbClr val="F59E0B"/>
          </a:solidFill>
          <a:ln w="8890">
            <a:solidFill>
              <a:srgbClr val="3707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9" name="TextBox 168"/>
          <p:cNvSpPr txBox="1"/>
          <p:nvPr/>
        </p:nvSpPr>
        <p:spPr>
          <a:xfrm>
            <a:off x="12115800" y="3328416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370730"/>
                </a:solidFill>
                <a:latin typeface="Aptos"/>
              </a:rPr>
              <a:t>!</a:t>
            </a:r>
          </a:p>
        </p:txBody>
      </p:sp>
      <p:sp>
        <p:nvSpPr>
          <p:cNvPr id="170" name="TextBox 169"/>
          <p:cNvSpPr txBox="1"/>
          <p:nvPr/>
        </p:nvSpPr>
        <p:spPr>
          <a:xfrm>
            <a:off x="12545568" y="3191256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0" b="1" i="0">
                <a:solidFill>
                  <a:srgbClr val="370730"/>
                </a:solidFill>
                <a:latin typeface="Aptos"/>
              </a:rPr>
              <a:t>NO FABRICATED RESPONDENTS</a:t>
            </a:r>
          </a:p>
        </p:txBody>
      </p:sp>
      <p:sp>
        <p:nvSpPr>
          <p:cNvPr id="171" name="TextBox 170"/>
          <p:cNvSpPr txBox="1"/>
          <p:nvPr/>
        </p:nvSpPr>
        <p:spPr>
          <a:xfrm>
            <a:off x="12545568" y="3419856"/>
            <a:ext cx="48920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90" b="0" i="0">
                <a:solidFill>
                  <a:srgbClr val="221628"/>
                </a:solidFill>
                <a:latin typeface="Aptos"/>
              </a:rPr>
              <a:t>Primary tracker count remains 0 unless independently recorded.</a:t>
            </a:r>
          </a:p>
        </p:txBody>
      </p:sp>
      <p:sp>
        <p:nvSpPr>
          <p:cNvPr id="172" name="Rounded Rectangle 171"/>
          <p:cNvSpPr/>
          <p:nvPr/>
        </p:nvSpPr>
        <p:spPr>
          <a:xfrm>
            <a:off x="11905488" y="3950208"/>
            <a:ext cx="5879592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3" name="Oval 172"/>
          <p:cNvSpPr/>
          <p:nvPr/>
        </p:nvSpPr>
        <p:spPr>
          <a:xfrm>
            <a:off x="12115800" y="4160520"/>
            <a:ext cx="301752" cy="301752"/>
          </a:xfrm>
          <a:prstGeom prst="ellipse">
            <a:avLst/>
          </a:prstGeom>
          <a:solidFill>
            <a:srgbClr val="F59E0B"/>
          </a:solidFill>
          <a:ln w="8890">
            <a:solidFill>
              <a:srgbClr val="3707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4" name="TextBox 173"/>
          <p:cNvSpPr txBox="1"/>
          <p:nvPr/>
        </p:nvSpPr>
        <p:spPr>
          <a:xfrm>
            <a:off x="12115800" y="4197096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370730"/>
                </a:solidFill>
                <a:latin typeface="Aptos"/>
              </a:rPr>
              <a:t>!</a:t>
            </a:r>
          </a:p>
        </p:txBody>
      </p:sp>
      <p:sp>
        <p:nvSpPr>
          <p:cNvPr id="175" name="TextBox 174"/>
          <p:cNvSpPr txBox="1"/>
          <p:nvPr/>
        </p:nvSpPr>
        <p:spPr>
          <a:xfrm>
            <a:off x="12545568" y="4059936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0" b="1" i="0">
                <a:solidFill>
                  <a:srgbClr val="370730"/>
                </a:solidFill>
                <a:latin typeface="Aptos"/>
              </a:rPr>
              <a:t>NO INVENTED UPLIFT</a:t>
            </a:r>
          </a:p>
        </p:txBody>
      </p:sp>
      <p:sp>
        <p:nvSpPr>
          <p:cNvPr id="176" name="TextBox 175"/>
          <p:cNvSpPr txBox="1"/>
          <p:nvPr/>
        </p:nvSpPr>
        <p:spPr>
          <a:xfrm>
            <a:off x="12545568" y="4288536"/>
            <a:ext cx="48920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90" b="0" i="0">
                <a:solidFill>
                  <a:srgbClr val="221628"/>
                </a:solidFill>
                <a:latin typeface="Aptos"/>
              </a:rPr>
              <a:t>Pilot metrics are proposed, not observed results.</a:t>
            </a:r>
          </a:p>
        </p:txBody>
      </p:sp>
      <p:sp>
        <p:nvSpPr>
          <p:cNvPr id="177" name="Rounded Rectangle 176"/>
          <p:cNvSpPr/>
          <p:nvPr/>
        </p:nvSpPr>
        <p:spPr>
          <a:xfrm>
            <a:off x="11905488" y="4818888"/>
            <a:ext cx="5879592" cy="73152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8" name="Oval 177"/>
          <p:cNvSpPr/>
          <p:nvPr/>
        </p:nvSpPr>
        <p:spPr>
          <a:xfrm>
            <a:off x="12115800" y="5029200"/>
            <a:ext cx="301752" cy="301752"/>
          </a:xfrm>
          <a:prstGeom prst="ellipse">
            <a:avLst/>
          </a:prstGeom>
          <a:solidFill>
            <a:srgbClr val="F59E0B"/>
          </a:solidFill>
          <a:ln w="8890">
            <a:solidFill>
              <a:srgbClr val="3707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9" name="TextBox 178"/>
          <p:cNvSpPr txBox="1"/>
          <p:nvPr/>
        </p:nvSpPr>
        <p:spPr>
          <a:xfrm>
            <a:off x="12115800" y="5065776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370730"/>
                </a:solidFill>
                <a:latin typeface="Aptos"/>
              </a:rPr>
              <a:t>!</a:t>
            </a:r>
          </a:p>
        </p:txBody>
      </p:sp>
      <p:sp>
        <p:nvSpPr>
          <p:cNvPr id="180" name="TextBox 179"/>
          <p:cNvSpPr txBox="1"/>
          <p:nvPr/>
        </p:nvSpPr>
        <p:spPr>
          <a:xfrm>
            <a:off x="12545568" y="4928616"/>
            <a:ext cx="49377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0" b="1" i="0">
                <a:solidFill>
                  <a:srgbClr val="370730"/>
                </a:solidFill>
                <a:latin typeface="Aptos"/>
              </a:rPr>
              <a:t>NO H0–H5 SCORE</a:t>
            </a:r>
          </a:p>
        </p:txBody>
      </p:sp>
      <p:sp>
        <p:nvSpPr>
          <p:cNvPr id="181" name="TextBox 180"/>
          <p:cNvSpPr txBox="1"/>
          <p:nvPr/>
        </p:nvSpPr>
        <p:spPr>
          <a:xfrm>
            <a:off x="12545568" y="5157216"/>
            <a:ext cx="489204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90" b="0" i="0">
                <a:solidFill>
                  <a:srgbClr val="221628"/>
                </a:solidFill>
                <a:latin typeface="Aptos"/>
              </a:rPr>
              <a:t>Hypotheses remain open until primary research and transaction evidence.</a:t>
            </a:r>
          </a:p>
        </p:txBody>
      </p:sp>
      <p:sp>
        <p:nvSpPr>
          <p:cNvPr id="182" name="Rounded Rectangle 181"/>
          <p:cNvSpPr/>
          <p:nvPr/>
        </p:nvSpPr>
        <p:spPr>
          <a:xfrm>
            <a:off x="11905488" y="5888736"/>
            <a:ext cx="5879592" cy="1170432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3" name="TextBox 182"/>
          <p:cNvSpPr txBox="1"/>
          <p:nvPr/>
        </p:nvSpPr>
        <p:spPr>
          <a:xfrm>
            <a:off x="12161520" y="6108192"/>
            <a:ext cx="5376672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FFFFFF"/>
                </a:solidFill>
                <a:latin typeface="Aptos Display"/>
              </a:rPr>
              <a:t>Research position today:
strong creator-proof evidence, weak Meesho handoff evidence.</a:t>
            </a:r>
          </a:p>
        </p:txBody>
      </p:sp>
      <p:sp>
        <p:nvSpPr>
          <p:cNvPr id="184" name="TextBox 183"/>
          <p:cNvSpPr txBox="1"/>
          <p:nvPr/>
        </p:nvSpPr>
        <p:spPr>
          <a:xfrm>
            <a:off x="566928" y="9857232"/>
            <a:ext cx="1709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675761"/>
                </a:solidFill>
                <a:latin typeface="Aptos"/>
              </a:rPr>
              <a:t>Source files: DICE_GATE1_AUDIT_WORKBOOK.md, DICE_EVIDENCE_DATABASE.md, DICE_PRIMARY_RESEARCH_TRACKER.md.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3736"/>
            <a:ext cx="1353312" cy="673837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7080992" y="137160"/>
            <a:ext cx="786384" cy="548640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163288" y="182880"/>
            <a:ext cx="6217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F59E0B"/>
                </a:solidFill>
                <a:latin typeface="Aptos Display"/>
              </a:rPr>
              <a:t>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17568" y="448056"/>
            <a:ext cx="6949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ptos"/>
              </a:rPr>
              <a:t>meesho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1952" y="237744"/>
            <a:ext cx="11704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E05579"/>
                </a:solidFill>
                <a:latin typeface="Aptos"/>
              </a:rPr>
              <a:t>APPENDIX | STREAM 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1952" y="438912"/>
            <a:ext cx="145389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370730"/>
                </a:solidFill>
                <a:latin typeface="Aptos Display"/>
              </a:rPr>
              <a:t>Creator proof is already decision-grade in many cases.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060704"/>
            <a:ext cx="17465040" cy="16510"/>
          </a:xfrm>
          <a:prstGeom prst="rect">
            <a:avLst/>
          </a:prstGeom>
          <a:solidFill>
            <a:srgbClr val="DECE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261872"/>
            <a:ext cx="1664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75761"/>
                </a:solidFill>
                <a:latin typeface="Aptos"/>
              </a:rPr>
              <a:t>The audit weakens a generic “content difficulty” diagnosis. It strengthens the question: where does useful proof leak before purchase?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755648"/>
            <a:ext cx="2880360" cy="576072"/>
          </a:xfrm>
          <a:prstGeom prst="round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1847088"/>
            <a:ext cx="6583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Aptos Display"/>
              </a:rPr>
              <a:t>26/28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44168" y="1892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ptos"/>
              </a:rPr>
              <a:t>live product demonstrations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547872" y="1755648"/>
            <a:ext cx="2880360" cy="576072"/>
          </a:xfrm>
          <a:prstGeom prst="roundRect">
            <a:avLst/>
          </a:prstGeom>
          <a:solidFill>
            <a:srgbClr val="F24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657600" y="1847088"/>
            <a:ext cx="6583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Aptos Display"/>
              </a:rPr>
              <a:t>24/28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389120" y="1892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ptos"/>
              </a:rPr>
              <a:t>suitability discussions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92824" y="1755648"/>
            <a:ext cx="2880360" cy="576072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702552" y="1847088"/>
            <a:ext cx="6583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Aptos Display"/>
              </a:rPr>
              <a:t>22/28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34072" y="1892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ptos"/>
              </a:rPr>
              <a:t>shade / colour fit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637776" y="1755648"/>
            <a:ext cx="2880360" cy="576072"/>
          </a:xfrm>
          <a:prstGeom prst="roundRect">
            <a:avLst/>
          </a:prstGeom>
          <a:solidFill>
            <a:srgbClr val="36A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747504" y="1847088"/>
            <a:ext cx="6583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Aptos Display"/>
              </a:rPr>
              <a:t>23/28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479024" y="1892808"/>
            <a:ext cx="192024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ptos"/>
              </a:rPr>
              <a:t>visible outcomes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12682728" y="1755648"/>
            <a:ext cx="5102352" cy="576072"/>
          </a:xfrm>
          <a:prstGeom prst="roundRect">
            <a:avLst/>
          </a:prstGeom>
          <a:solidFill>
            <a:srgbClr val="E055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2792456" y="1847088"/>
            <a:ext cx="658368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100" b="1" i="0">
                <a:solidFill>
                  <a:srgbClr val="FFFFFF"/>
                </a:solidFill>
                <a:latin typeface="Aptos Display"/>
              </a:rPr>
              <a:t>0/28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523976" y="1892808"/>
            <a:ext cx="414223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ptos"/>
              </a:rPr>
              <a:t>routed to Meesho in the public lead sample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2920" y="2624328"/>
            <a:ext cx="11384280" cy="310896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12648" y="2679192"/>
            <a:ext cx="111648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ptos"/>
              </a:rPr>
              <a:t>EVIDENCE CARDS | OBSERVED CONTENT CAPABILITY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3145536"/>
            <a:ext cx="786384" cy="2286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" y="3182112"/>
            <a:ext cx="786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CCA-006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1609344" y="3017520"/>
            <a:ext cx="4535424" cy="676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792224" y="3127248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40" b="1" i="0">
                <a:solidFill>
                  <a:srgbClr val="370730"/>
                </a:solidFill>
                <a:latin typeface="Aptos"/>
              </a:rPr>
              <a:t>Shade warning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792224" y="3346704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221628"/>
                </a:solidFill>
                <a:latin typeface="Aptos"/>
              </a:rPr>
              <a:t>Lakme Nude Twist washed out without base.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3904488"/>
            <a:ext cx="786384" cy="228600"/>
          </a:xfrm>
          <a:prstGeom prst="roundRect">
            <a:avLst/>
          </a:prstGeom>
          <a:solidFill>
            <a:srgbClr val="F24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40080" y="3941064"/>
            <a:ext cx="786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CCA-007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609344" y="3776472"/>
            <a:ext cx="4535424" cy="676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792224" y="3886200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40" b="1" i="0">
                <a:solidFill>
                  <a:srgbClr val="370730"/>
                </a:solidFill>
                <a:latin typeface="Aptos"/>
              </a:rPr>
              <a:t>Viral reality check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792224" y="4105656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221628"/>
                </a:solidFill>
                <a:latin typeface="Aptos"/>
              </a:rPr>
              <a:t>Pillow Talk / cult products failed on Indian-skin fit or comfort.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40080" y="4663440"/>
            <a:ext cx="786384" cy="228600"/>
          </a:xfrm>
          <a:prstGeom prst="roundRect">
            <a:avLst/>
          </a:prstGeom>
          <a:solidFill>
            <a:srgbClr val="A4A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4700016"/>
            <a:ext cx="786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CCA-010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1609344" y="4535424"/>
            <a:ext cx="4535424" cy="676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792224" y="4645152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40" b="1" i="0">
                <a:solidFill>
                  <a:srgbClr val="370730"/>
                </a:solidFill>
                <a:latin typeface="Aptos"/>
              </a:rPr>
              <a:t>Budget quality split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792224" y="4864608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221628"/>
                </a:solidFill>
                <a:latin typeface="Aptos"/>
              </a:rPr>
              <a:t>Zudio eyeliner worked; bullet lipsticks were grainy and dry.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640080" y="5422392"/>
            <a:ext cx="786384" cy="228600"/>
          </a:xfrm>
          <a:prstGeom prst="roundRect">
            <a:avLst/>
          </a:prstGeom>
          <a:solidFill>
            <a:srgbClr val="36A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40080" y="5458968"/>
            <a:ext cx="786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CCA-023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1609344" y="5294376"/>
            <a:ext cx="4535424" cy="676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792224" y="5404104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40" b="1" i="0">
                <a:solidFill>
                  <a:srgbClr val="370730"/>
                </a:solidFill>
                <a:latin typeface="Aptos"/>
              </a:rPr>
              <a:t>Suitability matching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1792224" y="5623560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221628"/>
                </a:solidFill>
                <a:latin typeface="Aptos"/>
              </a:rPr>
              <a:t>Dry-skin kit explains cream-vs-powder mechanics and oxidation.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640080" y="6181344"/>
            <a:ext cx="786384" cy="228600"/>
          </a:xfrm>
          <a:prstGeom prst="round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40080" y="6217920"/>
            <a:ext cx="786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CCA-024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1609344" y="6053328"/>
            <a:ext cx="4535424" cy="676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792224" y="6163056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40" b="1" i="0">
                <a:solidFill>
                  <a:srgbClr val="370730"/>
                </a:solidFill>
                <a:latin typeface="Aptos"/>
              </a:rPr>
              <a:t>Undertone proof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1792224" y="6382512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221628"/>
                </a:solidFill>
                <a:latin typeface="Aptos"/>
              </a:rPr>
              <a:t>Professional swatching across 15 shades makes fit legible.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640080" y="6940296"/>
            <a:ext cx="786384" cy="228600"/>
          </a:xfrm>
          <a:prstGeom prst="roundRect">
            <a:avLst/>
          </a:prstGeom>
          <a:solidFill>
            <a:srgbClr val="E055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640080" y="6976872"/>
            <a:ext cx="786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CCA-028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609344" y="6812280"/>
            <a:ext cx="4535424" cy="676656"/>
          </a:xfrm>
          <a:prstGeom prst="roundRect">
            <a:avLst/>
          </a:prstGeom>
          <a:solidFill>
            <a:srgbClr val="FFFFFF"/>
          </a:solidFill>
          <a:ln w="889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792224" y="6922008"/>
            <a:ext cx="41605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40" b="1" i="0">
                <a:solidFill>
                  <a:srgbClr val="370730"/>
                </a:solidFill>
                <a:latin typeface="Aptos"/>
              </a:rPr>
              <a:t>Trust economics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792224" y="7141464"/>
            <a:ext cx="411480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69" b="0" i="0">
                <a:solidFill>
                  <a:srgbClr val="221628"/>
                </a:solidFill>
                <a:latin typeface="Aptos"/>
              </a:rPr>
              <a:t>Fake virality and paid scripts expose review constraints.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2161520" y="2624328"/>
            <a:ext cx="5623560" cy="310896"/>
          </a:xfrm>
          <a:prstGeom prst="roundRect">
            <a:avLst/>
          </a:prstGeom>
          <a:solidFill>
            <a:srgbClr val="E055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2271248" y="2679192"/>
            <a:ext cx="54041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ptos"/>
              </a:rPr>
              <a:t>WHAT THE AUDIT DOES NOT PROVE</a:t>
            </a:r>
          </a:p>
        </p:txBody>
      </p:sp>
      <p:sp>
        <p:nvSpPr>
          <p:cNvPr id="59" name="Oval 58"/>
          <p:cNvSpPr/>
          <p:nvPr/>
        </p:nvSpPr>
        <p:spPr>
          <a:xfrm>
            <a:off x="12307824" y="3063240"/>
            <a:ext cx="301752" cy="301752"/>
          </a:xfrm>
          <a:prstGeom prst="ellipse">
            <a:avLst/>
          </a:prstGeom>
          <a:solidFill>
            <a:srgbClr val="E05579"/>
          </a:solidFill>
          <a:ln w="8890">
            <a:solidFill>
              <a:srgbClr val="3707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2307824" y="3099816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370730"/>
                </a:solidFill>
                <a:latin typeface="Aptos"/>
              </a:rPr>
              <a:t>!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2728448" y="3044952"/>
            <a:ext cx="4709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1628"/>
                </a:solidFill>
                <a:latin typeface="Aptos"/>
              </a:rPr>
              <a:t>No Meesho-specific conversion or attribution.</a:t>
            </a:r>
          </a:p>
        </p:txBody>
      </p:sp>
      <p:sp>
        <p:nvSpPr>
          <p:cNvPr id="62" name="Oval 61"/>
          <p:cNvSpPr/>
          <p:nvPr/>
        </p:nvSpPr>
        <p:spPr>
          <a:xfrm>
            <a:off x="12307824" y="3657600"/>
            <a:ext cx="301752" cy="301752"/>
          </a:xfrm>
          <a:prstGeom prst="ellipse">
            <a:avLst/>
          </a:prstGeom>
          <a:solidFill>
            <a:srgbClr val="E05579"/>
          </a:solidFill>
          <a:ln w="8890">
            <a:solidFill>
              <a:srgbClr val="3707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2307824" y="3694176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370730"/>
                </a:solidFill>
                <a:latin typeface="Aptos"/>
              </a:rPr>
              <a:t>!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2728448" y="3639312"/>
            <a:ext cx="4709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1628"/>
                </a:solidFill>
                <a:latin typeface="Aptos"/>
              </a:rPr>
              <a:t>No repeat purchase or creator earnings.</a:t>
            </a:r>
          </a:p>
        </p:txBody>
      </p:sp>
      <p:sp>
        <p:nvSpPr>
          <p:cNvPr id="65" name="Oval 64"/>
          <p:cNvSpPr/>
          <p:nvPr/>
        </p:nvSpPr>
        <p:spPr>
          <a:xfrm>
            <a:off x="12307824" y="4251960"/>
            <a:ext cx="301752" cy="301752"/>
          </a:xfrm>
          <a:prstGeom prst="ellipse">
            <a:avLst/>
          </a:prstGeom>
          <a:solidFill>
            <a:srgbClr val="E05579"/>
          </a:solidFill>
          <a:ln w="8890">
            <a:solidFill>
              <a:srgbClr val="3707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2307824" y="4288536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370730"/>
                </a:solidFill>
                <a:latin typeface="Aptos"/>
              </a:rPr>
              <a:t>!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2728448" y="4233672"/>
            <a:ext cx="4709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1628"/>
                </a:solidFill>
                <a:latin typeface="Aptos"/>
              </a:rPr>
              <a:t>No longitudinal skin outcome tracking.</a:t>
            </a:r>
          </a:p>
        </p:txBody>
      </p:sp>
      <p:sp>
        <p:nvSpPr>
          <p:cNvPr id="68" name="Oval 67"/>
          <p:cNvSpPr/>
          <p:nvPr/>
        </p:nvSpPr>
        <p:spPr>
          <a:xfrm>
            <a:off x="12307824" y="4846320"/>
            <a:ext cx="301752" cy="301752"/>
          </a:xfrm>
          <a:prstGeom prst="ellipse">
            <a:avLst/>
          </a:prstGeom>
          <a:solidFill>
            <a:srgbClr val="E05579"/>
          </a:solidFill>
          <a:ln w="8890">
            <a:solidFill>
              <a:srgbClr val="3707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2307824" y="4882896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370730"/>
                </a:solidFill>
                <a:latin typeface="Aptos"/>
              </a:rPr>
              <a:t>!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2728448" y="4828032"/>
            <a:ext cx="4709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1628"/>
                </a:solidFill>
                <a:latin typeface="Aptos"/>
              </a:rPr>
              <a:t>No line-level timestamps where caption stream lacked them.</a:t>
            </a:r>
          </a:p>
        </p:txBody>
      </p:sp>
      <p:sp>
        <p:nvSpPr>
          <p:cNvPr id="71" name="Oval 70"/>
          <p:cNvSpPr/>
          <p:nvPr/>
        </p:nvSpPr>
        <p:spPr>
          <a:xfrm>
            <a:off x="12307824" y="5440680"/>
            <a:ext cx="301752" cy="301752"/>
          </a:xfrm>
          <a:prstGeom prst="ellipse">
            <a:avLst/>
          </a:prstGeom>
          <a:solidFill>
            <a:srgbClr val="E05579"/>
          </a:solidFill>
          <a:ln w="8890">
            <a:solidFill>
              <a:srgbClr val="3707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2307824" y="5477256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370730"/>
                </a:solidFill>
                <a:latin typeface="Aptos"/>
              </a:rPr>
              <a:t>!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2728448" y="5422392"/>
            <a:ext cx="4709160" cy="31089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00" b="1" i="0">
                <a:solidFill>
                  <a:srgbClr val="221628"/>
                </a:solidFill>
                <a:latin typeface="Aptos"/>
              </a:rPr>
              <a:t>No evidence that proof is portable into a PDP.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2198096" y="6254496"/>
            <a:ext cx="5504688" cy="978408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2417552" y="6473952"/>
            <a:ext cx="5047488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20" b="1" i="0">
                <a:solidFill>
                  <a:srgbClr val="FFFFFF"/>
                </a:solidFill>
                <a:latin typeface="Aptos Display"/>
              </a:rPr>
              <a:t>The evidence changes the problem statement:
not content creation — proof transfer.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566928" y="9857232"/>
            <a:ext cx="1709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675761"/>
                </a:solidFill>
                <a:latin typeface="Aptos"/>
              </a:rPr>
              <a:t>Evidence tier: user-supplied manual audit layer. Counts are descriptive and do not establish transaction impact.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3736"/>
            <a:ext cx="1353312" cy="673837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7080992" y="137160"/>
            <a:ext cx="786384" cy="548640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163288" y="182880"/>
            <a:ext cx="6217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F59E0B"/>
                </a:solidFill>
                <a:latin typeface="Aptos Display"/>
              </a:rPr>
              <a:t>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17568" y="448056"/>
            <a:ext cx="6949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ptos"/>
              </a:rPr>
              <a:t>meesho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1952" y="237744"/>
            <a:ext cx="11704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E05579"/>
                </a:solidFill>
                <a:latin typeface="Aptos"/>
              </a:rPr>
              <a:t>APPENDIX | STREAM C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1952" y="438912"/>
            <a:ext cx="145389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370730"/>
                </a:solidFill>
                <a:latin typeface="Aptos Display"/>
              </a:rPr>
              <a:t>Competitor benchmark: separate capability from verified journey.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060704"/>
            <a:ext cx="17465040" cy="16510"/>
          </a:xfrm>
          <a:prstGeom prst="rect">
            <a:avLst/>
          </a:prstGeom>
          <a:solidFill>
            <a:srgbClr val="DECE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261872"/>
            <a:ext cx="1664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75761"/>
                </a:solidFill>
                <a:latin typeface="Aptos"/>
              </a:rPr>
              <a:t>The corrected record is more credible: one public-source capability, public artifacts, and pending flows—not five independently verified journeys.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755648"/>
            <a:ext cx="17282160" cy="310896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1810512"/>
            <a:ext cx="170627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ptos"/>
              </a:rPr>
              <a:t>SEVEN-STAGE FLOW AUDIT</a:t>
            </a:r>
          </a:p>
        </p:txBody>
      </p:sp>
      <p:sp>
        <p:nvSpPr>
          <p:cNvPr id="12" name="Chevron 11"/>
          <p:cNvSpPr/>
          <p:nvPr/>
        </p:nvSpPr>
        <p:spPr>
          <a:xfrm>
            <a:off x="502920" y="2176272"/>
            <a:ext cx="2459736" cy="585216"/>
          </a:xfrm>
          <a:prstGeom prst="chevron">
            <a:avLst/>
          </a:prstGeom>
          <a:solidFill>
            <a:srgbClr val="37073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267712"/>
            <a:ext cx="2203704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ptos"/>
              </a:rPr>
              <a:t>DISCOVERY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03504" y="2487168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90" b="0" i="0">
                <a:solidFill>
                  <a:srgbClr val="FFF7E0"/>
                </a:solidFill>
                <a:latin typeface="Aptos"/>
              </a:rPr>
              <a:t>stage 1</a:t>
            </a:r>
          </a:p>
        </p:txBody>
      </p:sp>
      <p:sp>
        <p:nvSpPr>
          <p:cNvPr id="15" name="Chevron 14"/>
          <p:cNvSpPr/>
          <p:nvPr/>
        </p:nvSpPr>
        <p:spPr>
          <a:xfrm>
            <a:off x="2971800" y="2176272"/>
            <a:ext cx="2459736" cy="585216"/>
          </a:xfrm>
          <a:prstGeom prst="chevron">
            <a:avLst/>
          </a:prstGeom>
          <a:solidFill>
            <a:srgbClr val="37073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081528" y="2267712"/>
            <a:ext cx="2203704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ptos"/>
              </a:rPr>
              <a:t>SELECTION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072384" y="2487168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90" b="0" i="0">
                <a:solidFill>
                  <a:srgbClr val="FFF7E0"/>
                </a:solidFill>
                <a:latin typeface="Aptos"/>
              </a:rPr>
              <a:t>stage 2</a:t>
            </a:r>
          </a:p>
        </p:txBody>
      </p:sp>
      <p:sp>
        <p:nvSpPr>
          <p:cNvPr id="18" name="Chevron 17"/>
          <p:cNvSpPr/>
          <p:nvPr/>
        </p:nvSpPr>
        <p:spPr>
          <a:xfrm>
            <a:off x="5440680" y="2176272"/>
            <a:ext cx="2459736" cy="585216"/>
          </a:xfrm>
          <a:prstGeom prst="chevron">
            <a:avLst/>
          </a:prstGeom>
          <a:solidFill>
            <a:srgbClr val="37073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550408" y="2267712"/>
            <a:ext cx="2203704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ptos"/>
              </a:rPr>
              <a:t>INFO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541264" y="2487168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90" b="0" i="0">
                <a:solidFill>
                  <a:srgbClr val="FFF7E0"/>
                </a:solidFill>
                <a:latin typeface="Aptos"/>
              </a:rPr>
              <a:t>stage 3</a:t>
            </a:r>
          </a:p>
        </p:txBody>
      </p:sp>
      <p:sp>
        <p:nvSpPr>
          <p:cNvPr id="21" name="Chevron 20"/>
          <p:cNvSpPr/>
          <p:nvPr/>
        </p:nvSpPr>
        <p:spPr>
          <a:xfrm>
            <a:off x="7909560" y="2176272"/>
            <a:ext cx="2459736" cy="585216"/>
          </a:xfrm>
          <a:prstGeom prst="chevron">
            <a:avLst/>
          </a:prstGeom>
          <a:solidFill>
            <a:srgbClr val="37073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019288" y="2267712"/>
            <a:ext cx="2203704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ptos"/>
              </a:rPr>
              <a:t>PROOF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010144" y="2487168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90" b="0" i="0">
                <a:solidFill>
                  <a:srgbClr val="FFF7E0"/>
                </a:solidFill>
                <a:latin typeface="Aptos"/>
              </a:rPr>
              <a:t>stage 4</a:t>
            </a:r>
          </a:p>
        </p:txBody>
      </p:sp>
      <p:sp>
        <p:nvSpPr>
          <p:cNvPr id="24" name="Chevron 23"/>
          <p:cNvSpPr/>
          <p:nvPr/>
        </p:nvSpPr>
        <p:spPr>
          <a:xfrm>
            <a:off x="10378440" y="2176272"/>
            <a:ext cx="2459736" cy="585216"/>
          </a:xfrm>
          <a:prstGeom prst="chevron">
            <a:avLst/>
          </a:prstGeom>
          <a:solidFill>
            <a:srgbClr val="36ACC4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488168" y="2267712"/>
            <a:ext cx="2203704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ptos"/>
              </a:rPr>
              <a:t>SHOPPING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0479024" y="2487168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90" b="0" i="0">
                <a:solidFill>
                  <a:srgbClr val="FFF7E0"/>
                </a:solidFill>
                <a:latin typeface="Aptos"/>
              </a:rPr>
              <a:t>stage 5</a:t>
            </a:r>
          </a:p>
        </p:txBody>
      </p:sp>
      <p:sp>
        <p:nvSpPr>
          <p:cNvPr id="27" name="Chevron 26"/>
          <p:cNvSpPr/>
          <p:nvPr/>
        </p:nvSpPr>
        <p:spPr>
          <a:xfrm>
            <a:off x="12847320" y="2176272"/>
            <a:ext cx="2459736" cy="585216"/>
          </a:xfrm>
          <a:prstGeom prst="chevron">
            <a:avLst/>
          </a:prstGeom>
          <a:solidFill>
            <a:srgbClr val="37073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2957048" y="2267712"/>
            <a:ext cx="2203704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ptos"/>
              </a:rPr>
              <a:t>ATTRIBUTION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2947904" y="2487168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90" b="0" i="0">
                <a:solidFill>
                  <a:srgbClr val="FFF7E0"/>
                </a:solidFill>
                <a:latin typeface="Aptos"/>
              </a:rPr>
              <a:t>stage 6</a:t>
            </a:r>
          </a:p>
        </p:txBody>
      </p:sp>
      <p:sp>
        <p:nvSpPr>
          <p:cNvPr id="30" name="Chevron 29"/>
          <p:cNvSpPr/>
          <p:nvPr/>
        </p:nvSpPr>
        <p:spPr>
          <a:xfrm>
            <a:off x="15316200" y="2176272"/>
            <a:ext cx="2459736" cy="585216"/>
          </a:xfrm>
          <a:prstGeom prst="chevron">
            <a:avLst/>
          </a:prstGeom>
          <a:solidFill>
            <a:srgbClr val="370730"/>
          </a:solidFill>
          <a:ln w="12700">
            <a:solidFill>
              <a:srgbClr val="FFFF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425928" y="2267712"/>
            <a:ext cx="2203704" cy="17373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FFFFFF"/>
                </a:solidFill>
                <a:latin typeface="Aptos"/>
              </a:rPr>
              <a:t>EARNINGS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416784" y="2487168"/>
            <a:ext cx="2240280" cy="14630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90" b="0" i="0">
                <a:solidFill>
                  <a:srgbClr val="FFF7E0"/>
                </a:solidFill>
                <a:latin typeface="Aptos"/>
              </a:rPr>
              <a:t>stage 7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621792" y="3108960"/>
            <a:ext cx="786384" cy="228600"/>
          </a:xfrm>
          <a:prstGeom prst="roundRect">
            <a:avLst/>
          </a:prstGeom>
          <a:solidFill>
            <a:srgbClr val="540C4A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621792" y="3145536"/>
            <a:ext cx="786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COMP-FLOW-001</a:t>
            </a:r>
          </a:p>
        </p:txBody>
      </p:sp>
      <p:sp>
        <p:nvSpPr>
          <p:cNvPr id="35" name="Rounded Rectangle 34"/>
          <p:cNvSpPr/>
          <p:nvPr/>
        </p:nvSpPr>
        <p:spPr>
          <a:xfrm>
            <a:off x="1600200" y="2971800"/>
            <a:ext cx="2907792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773936" y="3136392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30" b="1" i="0">
                <a:solidFill>
                  <a:srgbClr val="370730"/>
                </a:solidFill>
                <a:latin typeface="Aptos"/>
              </a:rPr>
              <a:t>YouTube Shopping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4681728" y="2971800"/>
            <a:ext cx="2834640" cy="713232"/>
          </a:xfrm>
          <a:prstGeom prst="roundRect">
            <a:avLst/>
          </a:prstGeom>
          <a:solidFill>
            <a:srgbClr val="E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4846320" y="3136392"/>
            <a:ext cx="25054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370730"/>
                </a:solidFill>
                <a:latin typeface="Aptos"/>
              </a:rPr>
              <a:t>PUBLIC-SOURCE EVIDENCED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7699248" y="2971800"/>
            <a:ext cx="996696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7900416" y="3108960"/>
            <a:ext cx="9555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 i="0">
                <a:solidFill>
                  <a:srgbClr val="221628"/>
                </a:solidFill>
                <a:latin typeface="Aptos"/>
              </a:rPr>
              <a:t>Official documentation supports a capability map; authenticated dashboards and replayed creator journey are not in workspace.</a:t>
            </a:r>
          </a:p>
        </p:txBody>
      </p:sp>
      <p:sp>
        <p:nvSpPr>
          <p:cNvPr id="41" name="Rounded Rectangle 40"/>
          <p:cNvSpPr/>
          <p:nvPr/>
        </p:nvSpPr>
        <p:spPr>
          <a:xfrm>
            <a:off x="621792" y="3941064"/>
            <a:ext cx="786384" cy="22860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21792" y="3977640"/>
            <a:ext cx="786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COMP-001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1600200" y="3803904"/>
            <a:ext cx="2907792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773936" y="3968496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30" b="1" i="0">
                <a:solidFill>
                  <a:srgbClr val="370730"/>
                </a:solidFill>
                <a:latin typeface="Aptos"/>
              </a:rPr>
              <a:t>Myntra / creator program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4681728" y="3803904"/>
            <a:ext cx="2834640" cy="713232"/>
          </a:xfrm>
          <a:prstGeom prst="roundRect">
            <a:avLst/>
          </a:prstGeom>
          <a:solidFill>
            <a:srgbClr val="E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4846320" y="3968496"/>
            <a:ext cx="25054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370730"/>
                </a:solidFill>
                <a:latin typeface="Aptos"/>
              </a:rPr>
              <a:t>PUBLIC PROGRAM ARTIFACT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7699248" y="3803904"/>
            <a:ext cx="996696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7900416" y="3941064"/>
            <a:ext cx="9555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 i="0">
                <a:solidFill>
                  <a:srgbClr val="221628"/>
                </a:solidFill>
                <a:latin typeface="Aptos"/>
              </a:rPr>
              <a:t>Program existence is evidenced; full stage-by-stage conversion and earnings flow is not.</a:t>
            </a:r>
          </a:p>
        </p:txBody>
      </p:sp>
      <p:sp>
        <p:nvSpPr>
          <p:cNvPr id="49" name="Rounded Rectangle 48"/>
          <p:cNvSpPr/>
          <p:nvPr/>
        </p:nvSpPr>
        <p:spPr>
          <a:xfrm>
            <a:off x="621792" y="4773168"/>
            <a:ext cx="786384" cy="228600"/>
          </a:xfrm>
          <a:prstGeom prst="roundRect">
            <a:avLst/>
          </a:prstGeom>
          <a:solidFill>
            <a:srgbClr val="36A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21792" y="4809744"/>
            <a:ext cx="786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COMP-002 / 003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600200" y="4636008"/>
            <a:ext cx="2907792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773936" y="4800600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30" b="1" i="0">
                <a:solidFill>
                  <a:srgbClr val="370730"/>
                </a:solidFill>
                <a:latin typeface="Aptos"/>
              </a:rPr>
              <a:t>Google partner announcement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4681728" y="4636008"/>
            <a:ext cx="2834640" cy="713232"/>
          </a:xfrm>
          <a:prstGeom prst="roundRect">
            <a:avLst/>
          </a:prstGeom>
          <a:solidFill>
            <a:srgbClr val="E5F7F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4846320" y="4800600"/>
            <a:ext cx="25054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370730"/>
                </a:solidFill>
                <a:latin typeface="Aptos"/>
              </a:rPr>
              <a:t>PUBLIC PARTNER ARTIFACT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7699248" y="4636008"/>
            <a:ext cx="996696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7900416" y="4773168"/>
            <a:ext cx="9555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 i="0">
                <a:solidFill>
                  <a:srgbClr val="221628"/>
                </a:solidFill>
                <a:latin typeface="Aptos"/>
              </a:rPr>
              <a:t>Partner access is evidenced; SKU selection, attribution and payout details remain unverified.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621792" y="5605272"/>
            <a:ext cx="786384" cy="228600"/>
          </a:xfrm>
          <a:prstGeom prst="roundRect">
            <a:avLst/>
          </a:prstGeom>
          <a:solidFill>
            <a:srgbClr val="E055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621792" y="5641848"/>
            <a:ext cx="786384" cy="137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1" i="0">
                <a:solidFill>
                  <a:srgbClr val="FFFFFF"/>
                </a:solidFill>
                <a:latin typeface="Aptos"/>
              </a:rPr>
              <a:t>COMP-004 / 005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600200" y="5468112"/>
            <a:ext cx="2907792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773936" y="5632704"/>
            <a:ext cx="25603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30" b="1" i="0">
                <a:solidFill>
                  <a:srgbClr val="370730"/>
                </a:solidFill>
                <a:latin typeface="Aptos"/>
              </a:rPr>
              <a:t>Amazon / Meta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681728" y="5468112"/>
            <a:ext cx="2834640" cy="713232"/>
          </a:xfrm>
          <a:prstGeom prst="roundRect">
            <a:avLst/>
          </a:prstGeom>
          <a:solidFill>
            <a:srgbClr val="FFE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846320" y="5632704"/>
            <a:ext cx="2505456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50" b="1" i="0">
                <a:solidFill>
                  <a:srgbClr val="370730"/>
                </a:solidFill>
                <a:latin typeface="Aptos"/>
              </a:rPr>
              <a:t>PENDING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7699248" y="5468112"/>
            <a:ext cx="996696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7900416" y="5605272"/>
            <a:ext cx="95554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40" b="0" i="0">
                <a:solidFill>
                  <a:srgbClr val="221628"/>
                </a:solidFill>
                <a:latin typeface="Aptos"/>
              </a:rPr>
              <a:t>No complete workspace source record supporting all seven stages.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502920" y="6556248"/>
            <a:ext cx="17282160" cy="960120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777240" y="6784848"/>
            <a:ext cx="16733520" cy="4389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30" b="1" i="0">
                <a:solidFill>
                  <a:srgbClr val="FFFFFF"/>
                </a:solidFill>
                <a:latin typeface="Aptos Display"/>
              </a:rPr>
              <a:t>Benchmark implication  →  Meesho does not need to copy every competitor feature. It needs a measurable proof-to-commerce bridge, then the interaction data to decide what to build next.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66928" y="9857232"/>
            <a:ext cx="1709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675761"/>
                </a:solidFill>
                <a:latin typeface="Aptos"/>
              </a:rPr>
              <a:t>Stream C status: 1 public-source capability record; 3 public artifacts; 2 pending. Authenticated/private claims are not independently verifiable here.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3736"/>
            <a:ext cx="1353312" cy="673837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7080992" y="137160"/>
            <a:ext cx="786384" cy="548640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163288" y="182880"/>
            <a:ext cx="6217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F59E0B"/>
                </a:solidFill>
                <a:latin typeface="Aptos Display"/>
              </a:rPr>
              <a:t>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17568" y="448056"/>
            <a:ext cx="6949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ptos"/>
              </a:rPr>
              <a:t>meesho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1952" y="237744"/>
            <a:ext cx="11704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E05579"/>
                </a:solidFill>
                <a:latin typeface="Aptos"/>
              </a:rPr>
              <a:t>APPENDIX | HYPOTHESIS STATUS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1952" y="438912"/>
            <a:ext cx="145389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370730"/>
                </a:solidFill>
                <a:latin typeface="Aptos Display"/>
              </a:rPr>
              <a:t>H0–H5 remain open; the research now tells us what to test.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060704"/>
            <a:ext cx="17465040" cy="16510"/>
          </a:xfrm>
          <a:prstGeom prst="rect">
            <a:avLst/>
          </a:prstGeom>
          <a:solidFill>
            <a:srgbClr val="DECE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261872"/>
            <a:ext cx="1664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75761"/>
                </a:solidFill>
                <a:latin typeface="Aptos"/>
              </a:rPr>
              <a:t>We do not score hypotheses from descriptive creator content alone. We preserve the contradictions and define the next evidence needed.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755648"/>
            <a:ext cx="17282160" cy="310896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1810512"/>
            <a:ext cx="170627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ptos"/>
              </a:rPr>
              <a:t>EVIDENCE / CONTRADICTION / NEXT TEST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2176272"/>
            <a:ext cx="1874519" cy="384048"/>
          </a:xfrm>
          <a:prstGeom prst="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267712"/>
            <a:ext cx="1783079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10" b="1" i="0">
                <a:solidFill>
                  <a:srgbClr val="FFFFFF"/>
                </a:solidFill>
                <a:latin typeface="Aptos"/>
              </a:rPr>
              <a:t>HYPOTHESIS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377439" y="2176272"/>
            <a:ext cx="4005072" cy="384048"/>
          </a:xfrm>
          <a:prstGeom prst="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2423159" y="2267712"/>
            <a:ext cx="391363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10" b="1" i="0">
                <a:solidFill>
                  <a:srgbClr val="FFFFFF"/>
                </a:solidFill>
                <a:latin typeface="Aptos"/>
              </a:rPr>
              <a:t>SUPPORTING SIGNAL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382511" y="2176272"/>
            <a:ext cx="3977639" cy="384048"/>
          </a:xfrm>
          <a:prstGeom prst="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28231" y="2267712"/>
            <a:ext cx="38862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10" b="1" i="0">
                <a:solidFill>
                  <a:srgbClr val="FFFFFF"/>
                </a:solidFill>
                <a:latin typeface="Aptos"/>
              </a:rPr>
              <a:t>CONTRADICTION / LIMIT</a:t>
            </a:r>
          </a:p>
        </p:txBody>
      </p:sp>
      <p:sp>
        <p:nvSpPr>
          <p:cNvPr id="18" name="Rectangle 17"/>
          <p:cNvSpPr/>
          <p:nvPr/>
        </p:nvSpPr>
        <p:spPr>
          <a:xfrm>
            <a:off x="10360150" y="2176272"/>
            <a:ext cx="4892040" cy="384048"/>
          </a:xfrm>
          <a:prstGeom prst="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10405870" y="2267712"/>
            <a:ext cx="480060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10" b="1" i="0">
                <a:solidFill>
                  <a:srgbClr val="FFFFFF"/>
                </a:solidFill>
                <a:latin typeface="Aptos"/>
              </a:rPr>
              <a:t>NEXT TEST</a:t>
            </a:r>
          </a:p>
        </p:txBody>
      </p:sp>
      <p:sp>
        <p:nvSpPr>
          <p:cNvPr id="20" name="Rectangle 19"/>
          <p:cNvSpPr/>
          <p:nvPr/>
        </p:nvSpPr>
        <p:spPr>
          <a:xfrm>
            <a:off x="15252190" y="2176272"/>
            <a:ext cx="2212848" cy="384048"/>
          </a:xfrm>
          <a:prstGeom prst="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5297910" y="2267712"/>
            <a:ext cx="2121408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810" b="1" i="0">
                <a:solidFill>
                  <a:srgbClr val="FFFFFF"/>
                </a:solidFill>
                <a:latin typeface="Aptos"/>
              </a:rPr>
              <a:t>STATUS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2606040"/>
            <a:ext cx="1874519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576072" y="2715768"/>
            <a:ext cx="172821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19" b="1" i="0">
                <a:solidFill>
                  <a:srgbClr val="370730"/>
                </a:solidFill>
                <a:latin typeface="Aptos"/>
              </a:rPr>
              <a:t>H0 | quality / trust</a:t>
            </a:r>
          </a:p>
        </p:txBody>
      </p:sp>
      <p:sp>
        <p:nvSpPr>
          <p:cNvPr id="24" name="Rectangle 23"/>
          <p:cNvSpPr/>
          <p:nvPr/>
        </p:nvSpPr>
        <p:spPr>
          <a:xfrm>
            <a:off x="2377439" y="2606040"/>
            <a:ext cx="4005072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2450591" y="2715768"/>
            <a:ext cx="385876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 i="0">
                <a:solidFill>
                  <a:srgbClr val="221628"/>
                </a:solidFill>
                <a:latin typeface="Aptos"/>
              </a:rPr>
              <a:t>Defects, viral mismatch and PR pressure appear in creator audits.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382511" y="2606040"/>
            <a:ext cx="3977639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455663" y="2715768"/>
            <a:ext cx="3831335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 i="0">
                <a:solidFill>
                  <a:srgbClr val="221628"/>
                </a:solidFill>
                <a:latin typeface="Aptos"/>
              </a:rPr>
              <a:t>Public content cannot size return or authenticity impact.</a:t>
            </a:r>
          </a:p>
        </p:txBody>
      </p:sp>
      <p:sp>
        <p:nvSpPr>
          <p:cNvPr id="28" name="Rectangle 27"/>
          <p:cNvSpPr/>
          <p:nvPr/>
        </p:nvSpPr>
        <p:spPr>
          <a:xfrm>
            <a:off x="10360150" y="2606040"/>
            <a:ext cx="4892040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433302" y="2715768"/>
            <a:ext cx="474573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 i="0">
                <a:solidFill>
                  <a:srgbClr val="221628"/>
                </a:solidFill>
                <a:latin typeface="Aptos"/>
              </a:rPr>
              <a:t>Seller + shopper interviews; returns / ratings pilot.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15252190" y="2606040"/>
            <a:ext cx="2212848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15325342" y="2715768"/>
            <a:ext cx="2066543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0" b="1" i="0">
                <a:solidFill>
                  <a:srgbClr val="221628"/>
                </a:solidFill>
                <a:latin typeface="Aptos"/>
              </a:rPr>
              <a:t>OPEN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319272"/>
            <a:ext cx="1874519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76072" y="3429000"/>
            <a:ext cx="172821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19" b="1" i="0">
                <a:solidFill>
                  <a:srgbClr val="370730"/>
                </a:solidFill>
                <a:latin typeface="Aptos"/>
              </a:rPr>
              <a:t>H1 | creator-SKU fit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77439" y="3319272"/>
            <a:ext cx="4005072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2450591" y="3429000"/>
            <a:ext cx="385876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 i="0">
                <a:solidFill>
                  <a:srgbClr val="221628"/>
                </a:solidFill>
                <a:latin typeface="Aptos"/>
              </a:rPr>
              <a:t>Professional creators can make undertone and suitability legible.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382511" y="3319272"/>
            <a:ext cx="3977639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55663" y="3429000"/>
            <a:ext cx="3831335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 i="0">
                <a:solidFill>
                  <a:srgbClr val="221628"/>
                </a:solidFill>
                <a:latin typeface="Aptos"/>
              </a:rPr>
              <a:t>This may be true only for specialist formats.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10360150" y="3319272"/>
            <a:ext cx="4892040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10433302" y="3429000"/>
            <a:ext cx="474573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 i="0">
                <a:solidFill>
                  <a:srgbClr val="221628"/>
                </a:solidFill>
                <a:latin typeface="Aptos"/>
              </a:rPr>
              <a:t>Creator interview: matching, selection and effort.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5252190" y="3319272"/>
            <a:ext cx="2212848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5325342" y="3429000"/>
            <a:ext cx="2066543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0" b="1" i="0">
                <a:solidFill>
                  <a:srgbClr val="221628"/>
                </a:solidFill>
                <a:latin typeface="Aptos"/>
              </a:rPr>
              <a:t>OPEN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502920" y="4032504"/>
            <a:ext cx="1874519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576072" y="4142232"/>
            <a:ext cx="172821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19" b="1" i="0">
                <a:solidFill>
                  <a:srgbClr val="370730"/>
                </a:solidFill>
                <a:latin typeface="Aptos"/>
              </a:rPr>
              <a:t>H2 | sampling</a:t>
            </a:r>
          </a:p>
        </p:txBody>
      </p:sp>
      <p:sp>
        <p:nvSpPr>
          <p:cNvPr id="44" name="Rectangle 43"/>
          <p:cNvSpPr/>
          <p:nvPr/>
        </p:nvSpPr>
        <p:spPr>
          <a:xfrm>
            <a:off x="2377439" y="4032504"/>
            <a:ext cx="4005072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450591" y="4142232"/>
            <a:ext cx="385876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 i="0">
                <a:solidFill>
                  <a:srgbClr val="221628"/>
                </a:solidFill>
                <a:latin typeface="Aptos"/>
              </a:rPr>
              <a:t>PR volume and waste are directly visible.</a:t>
            </a:r>
          </a:p>
        </p:txBody>
      </p:sp>
      <p:sp>
        <p:nvSpPr>
          <p:cNvPr id="46" name="Rectangle 45"/>
          <p:cNvSpPr/>
          <p:nvPr/>
        </p:nvSpPr>
        <p:spPr>
          <a:xfrm>
            <a:off x="6382511" y="4032504"/>
            <a:ext cx="3977639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55663" y="4142232"/>
            <a:ext cx="3831335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 i="0">
                <a:solidFill>
                  <a:srgbClr val="221628"/>
                </a:solidFill>
                <a:latin typeface="Aptos"/>
              </a:rPr>
              <a:t>Gifting may create bias and uneconomic effort.</a:t>
            </a:r>
          </a:p>
        </p:txBody>
      </p:sp>
      <p:sp>
        <p:nvSpPr>
          <p:cNvPr id="48" name="Rectangle 47"/>
          <p:cNvSpPr/>
          <p:nvPr/>
        </p:nvSpPr>
        <p:spPr>
          <a:xfrm>
            <a:off x="10360150" y="4032504"/>
            <a:ext cx="4892040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0433302" y="4142232"/>
            <a:ext cx="474573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 i="0">
                <a:solidFill>
                  <a:srgbClr val="221628"/>
                </a:solidFill>
                <a:latin typeface="Aptos"/>
              </a:rPr>
              <a:t>Seller economics + targeted sample test.</a:t>
            </a:r>
          </a:p>
        </p:txBody>
      </p:sp>
      <p:sp>
        <p:nvSpPr>
          <p:cNvPr id="50" name="Rectangle 49"/>
          <p:cNvSpPr/>
          <p:nvPr/>
        </p:nvSpPr>
        <p:spPr>
          <a:xfrm>
            <a:off x="15252190" y="4032504"/>
            <a:ext cx="2212848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5325342" y="4142232"/>
            <a:ext cx="2066543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0" b="1" i="0">
                <a:solidFill>
                  <a:srgbClr val="221628"/>
                </a:solidFill>
                <a:latin typeface="Aptos"/>
              </a:rPr>
              <a:t>OPEN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745736"/>
            <a:ext cx="1874519" cy="676656"/>
          </a:xfrm>
          <a:prstGeom prst="rect">
            <a:avLst/>
          </a:prstGeom>
          <a:solidFill>
            <a:srgbClr val="E5F7F9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576072" y="4855464"/>
            <a:ext cx="172821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19" b="1" i="0">
                <a:solidFill>
                  <a:srgbClr val="370730"/>
                </a:solidFill>
                <a:latin typeface="Aptos"/>
              </a:rPr>
              <a:t>H3 | proof difficulty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77439" y="4745736"/>
            <a:ext cx="4005072" cy="676656"/>
          </a:xfrm>
          <a:prstGeom prst="rect">
            <a:avLst/>
          </a:prstGeom>
          <a:solidFill>
            <a:srgbClr val="E5F7F9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50591" y="4855464"/>
            <a:ext cx="385876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 i="0">
                <a:solidFill>
                  <a:srgbClr val="221628"/>
                </a:solidFill>
                <a:latin typeface="Aptos"/>
              </a:rPr>
              <a:t>26/28 demos; 24/28 suitability discussions.</a:t>
            </a:r>
          </a:p>
        </p:txBody>
      </p:sp>
      <p:sp>
        <p:nvSpPr>
          <p:cNvPr id="56" name="Rectangle 55"/>
          <p:cNvSpPr/>
          <p:nvPr/>
        </p:nvSpPr>
        <p:spPr>
          <a:xfrm>
            <a:off x="6382511" y="4745736"/>
            <a:ext cx="3977639" cy="676656"/>
          </a:xfrm>
          <a:prstGeom prst="rect">
            <a:avLst/>
          </a:prstGeom>
          <a:solidFill>
            <a:srgbClr val="E5F7F9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455663" y="4855464"/>
            <a:ext cx="3831335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 i="0">
                <a:solidFill>
                  <a:srgbClr val="221628"/>
                </a:solidFill>
                <a:latin typeface="Aptos"/>
              </a:rPr>
              <a:t>Proof quality does not prove transaction transfer.</a:t>
            </a:r>
          </a:p>
        </p:txBody>
      </p:sp>
      <p:sp>
        <p:nvSpPr>
          <p:cNvPr id="58" name="Rectangle 57"/>
          <p:cNvSpPr/>
          <p:nvPr/>
        </p:nvSpPr>
        <p:spPr>
          <a:xfrm>
            <a:off x="10360150" y="4745736"/>
            <a:ext cx="4892040" cy="676656"/>
          </a:xfrm>
          <a:prstGeom prst="rect">
            <a:avLst/>
          </a:prstGeom>
          <a:solidFill>
            <a:srgbClr val="E5F7F9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0433302" y="4855464"/>
            <a:ext cx="474573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 i="0">
                <a:solidFill>
                  <a:srgbClr val="221628"/>
                </a:solidFill>
                <a:latin typeface="Aptos"/>
              </a:rPr>
              <a:t>Shopper test: which fields change confidence/click.</a:t>
            </a:r>
          </a:p>
        </p:txBody>
      </p:sp>
      <p:sp>
        <p:nvSpPr>
          <p:cNvPr id="60" name="Rectangle 59"/>
          <p:cNvSpPr/>
          <p:nvPr/>
        </p:nvSpPr>
        <p:spPr>
          <a:xfrm>
            <a:off x="15252190" y="4745736"/>
            <a:ext cx="2212848" cy="676656"/>
          </a:xfrm>
          <a:prstGeom prst="rect">
            <a:avLst/>
          </a:prstGeom>
          <a:solidFill>
            <a:srgbClr val="E5F7F9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5325342" y="4855464"/>
            <a:ext cx="2066543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0" b="1" i="0">
                <a:solidFill>
                  <a:srgbClr val="221628"/>
                </a:solidFill>
                <a:latin typeface="Aptos"/>
              </a:rPr>
              <a:t>CHALLENGED</a:t>
            </a:r>
          </a:p>
        </p:txBody>
      </p:sp>
      <p:sp>
        <p:nvSpPr>
          <p:cNvPr id="62" name="Rectangle 61"/>
          <p:cNvSpPr/>
          <p:nvPr/>
        </p:nvSpPr>
        <p:spPr>
          <a:xfrm>
            <a:off x="502920" y="5458968"/>
            <a:ext cx="1874519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576072" y="5568696"/>
            <a:ext cx="172821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19" b="1" i="0">
                <a:solidFill>
                  <a:srgbClr val="370730"/>
                </a:solidFill>
                <a:latin typeface="Aptos"/>
              </a:rPr>
              <a:t>H4 | decision support</a:t>
            </a:r>
          </a:p>
        </p:txBody>
      </p:sp>
      <p:sp>
        <p:nvSpPr>
          <p:cNvPr id="64" name="Rectangle 63"/>
          <p:cNvSpPr/>
          <p:nvPr/>
        </p:nvSpPr>
        <p:spPr>
          <a:xfrm>
            <a:off x="2377439" y="5458968"/>
            <a:ext cx="4005072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2450591" y="5568696"/>
            <a:ext cx="385876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 i="0">
                <a:solidFill>
                  <a:srgbClr val="221628"/>
                </a:solidFill>
                <a:latin typeface="Aptos"/>
              </a:rPr>
              <a:t>Shade, texture and outcome proof recur across audits.</a:t>
            </a:r>
          </a:p>
        </p:txBody>
      </p:sp>
      <p:sp>
        <p:nvSpPr>
          <p:cNvPr id="66" name="Rectangle 65"/>
          <p:cNvSpPr/>
          <p:nvPr/>
        </p:nvSpPr>
        <p:spPr>
          <a:xfrm>
            <a:off x="6382511" y="5458968"/>
            <a:ext cx="3977639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6455663" y="5568696"/>
            <a:ext cx="3831335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 i="0">
                <a:solidFill>
                  <a:srgbClr val="221628"/>
                </a:solidFill>
                <a:latin typeface="Aptos"/>
              </a:rPr>
              <a:t>No Meesho PDP / conversion evidence.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0360150" y="5458968"/>
            <a:ext cx="4892040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0433302" y="5568696"/>
            <a:ext cx="474573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 i="0">
                <a:solidFill>
                  <a:srgbClr val="221628"/>
                </a:solidFill>
                <a:latin typeface="Aptos"/>
              </a:rPr>
              <a:t>Treatment vs control proof handoff.</a:t>
            </a:r>
          </a:p>
        </p:txBody>
      </p:sp>
      <p:sp>
        <p:nvSpPr>
          <p:cNvPr id="70" name="Rectangle 69"/>
          <p:cNvSpPr/>
          <p:nvPr/>
        </p:nvSpPr>
        <p:spPr>
          <a:xfrm>
            <a:off x="15252190" y="5458968"/>
            <a:ext cx="2212848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15325342" y="5568696"/>
            <a:ext cx="2066543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0" b="1" i="0">
                <a:solidFill>
                  <a:srgbClr val="221628"/>
                </a:solidFill>
                <a:latin typeface="Aptos"/>
              </a:rPr>
              <a:t>OPEN</a:t>
            </a:r>
          </a:p>
        </p:txBody>
      </p:sp>
      <p:sp>
        <p:nvSpPr>
          <p:cNvPr id="72" name="Rectangle 71"/>
          <p:cNvSpPr/>
          <p:nvPr/>
        </p:nvSpPr>
        <p:spPr>
          <a:xfrm>
            <a:off x="502920" y="6172200"/>
            <a:ext cx="1874519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576072" y="6281928"/>
            <a:ext cx="172821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19" b="1" i="0">
                <a:solidFill>
                  <a:srgbClr val="370730"/>
                </a:solidFill>
                <a:latin typeface="Aptos"/>
              </a:rPr>
              <a:t>H5 | creator economics</a:t>
            </a:r>
          </a:p>
        </p:txBody>
      </p:sp>
      <p:sp>
        <p:nvSpPr>
          <p:cNvPr id="74" name="Rectangle 73"/>
          <p:cNvSpPr/>
          <p:nvPr/>
        </p:nvSpPr>
        <p:spPr>
          <a:xfrm>
            <a:off x="2377439" y="6172200"/>
            <a:ext cx="4005072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2450591" y="6281928"/>
            <a:ext cx="3858768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 i="0">
                <a:solidFill>
                  <a:srgbClr val="221628"/>
                </a:solidFill>
                <a:latin typeface="Aptos"/>
              </a:rPr>
              <a:t>Affiliate codes, PR pressure and platform commissions observed.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382511" y="6172200"/>
            <a:ext cx="3977639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6455663" y="6281928"/>
            <a:ext cx="3831335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 i="0">
                <a:solidFill>
                  <a:srgbClr val="221628"/>
                </a:solidFill>
                <a:latin typeface="Aptos"/>
              </a:rPr>
              <a:t>Earnings and conversion logs are absent.</a:t>
            </a:r>
          </a:p>
        </p:txBody>
      </p:sp>
      <p:sp>
        <p:nvSpPr>
          <p:cNvPr id="78" name="Rectangle 77"/>
          <p:cNvSpPr/>
          <p:nvPr/>
        </p:nvSpPr>
        <p:spPr>
          <a:xfrm>
            <a:off x="10360150" y="6172200"/>
            <a:ext cx="4892040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0433302" y="6281928"/>
            <a:ext cx="4745736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0" i="0">
                <a:solidFill>
                  <a:srgbClr val="221628"/>
                </a:solidFill>
                <a:latin typeface="Aptos"/>
              </a:rPr>
              <a:t>Creator interviews + attributed pilot earnings.</a:t>
            </a:r>
          </a:p>
        </p:txBody>
      </p:sp>
      <p:sp>
        <p:nvSpPr>
          <p:cNvPr id="80" name="Rectangle 79"/>
          <p:cNvSpPr/>
          <p:nvPr/>
        </p:nvSpPr>
        <p:spPr>
          <a:xfrm>
            <a:off x="15252190" y="6172200"/>
            <a:ext cx="2212848" cy="676656"/>
          </a:xfrm>
          <a:prstGeom prst="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15325342" y="6281928"/>
            <a:ext cx="2066543" cy="4389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60" b="1" i="0">
                <a:solidFill>
                  <a:srgbClr val="221628"/>
                </a:solidFill>
                <a:latin typeface="Aptos"/>
              </a:rPr>
              <a:t>OPEN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02920" y="7059168"/>
            <a:ext cx="17282160" cy="621792"/>
          </a:xfrm>
          <a:prstGeom prst="roundRect">
            <a:avLst/>
          </a:prstGeom>
          <a:solidFill>
            <a:srgbClr val="FFE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749808" y="7232904"/>
            <a:ext cx="1677924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60" b="1" i="0">
                <a:solidFill>
                  <a:srgbClr val="370730"/>
                </a:solidFill>
                <a:latin typeface="Aptos Display"/>
              </a:rPr>
              <a:t>Important: H3 is challenged by creator evidence; the winning case must now locate the leak after proof, not assume proof is absent.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566928" y="9857232"/>
            <a:ext cx="1709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675761"/>
                </a:solidFill>
                <a:latin typeface="Aptos"/>
              </a:rPr>
              <a:t>No hypothesis has been statistically scored or declared validated.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3736"/>
            <a:ext cx="1353312" cy="673837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7080992" y="137160"/>
            <a:ext cx="786384" cy="548640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163288" y="182880"/>
            <a:ext cx="6217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F59E0B"/>
                </a:solidFill>
                <a:latin typeface="Aptos Display"/>
              </a:rPr>
              <a:t>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17568" y="448056"/>
            <a:ext cx="6949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ptos"/>
              </a:rPr>
              <a:t>meesho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1952" y="237744"/>
            <a:ext cx="11704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E05579"/>
                </a:solidFill>
                <a:latin typeface="Aptos"/>
              </a:rPr>
              <a:t>APPENDIX | FUTURE ENGINE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1952" y="438912"/>
            <a:ext cx="145389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370730"/>
                </a:solidFill>
                <a:latin typeface="Aptos Display"/>
              </a:rPr>
              <a:t>The long-term moat is a learning loop, not a sample box.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060704"/>
            <a:ext cx="17465040" cy="16510"/>
          </a:xfrm>
          <a:prstGeom prst="rect">
            <a:avLst/>
          </a:prstGeom>
          <a:solidFill>
            <a:srgbClr val="DECE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261872"/>
            <a:ext cx="1664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75761"/>
                </a:solidFill>
                <a:latin typeface="Aptos"/>
              </a:rPr>
              <a:t>The wedge is intentionally small. Its output is the interaction data required for Creator x SKU x Audience allocation.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755648"/>
            <a:ext cx="17282160" cy="310896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1810512"/>
            <a:ext cx="170627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ptos"/>
              </a:rPr>
              <a:t>DECISION ENGINE WIREFRAME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2157984"/>
            <a:ext cx="3840480" cy="31089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212848"/>
            <a:ext cx="362102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ptos"/>
              </a:rPr>
              <a:t>INPUTS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58368" y="2578608"/>
            <a:ext cx="3840480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58368" y="2578608"/>
            <a:ext cx="73152" cy="6217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22960" y="2697480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0730"/>
                </a:solidFill>
                <a:latin typeface="Aptos"/>
              </a:rPr>
              <a:t>CREATOR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944368"/>
            <a:ext cx="3566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221628"/>
                </a:solidFill>
                <a:latin typeface="Aptos"/>
              </a:rPr>
              <a:t>audience / credibility / effort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8368" y="3291840"/>
            <a:ext cx="3840480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58368" y="3291840"/>
            <a:ext cx="73152" cy="6217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60" y="3410712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0730"/>
                </a:solidFill>
                <a:latin typeface="Aptos"/>
              </a:rPr>
              <a:t>SKU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3657600"/>
            <a:ext cx="3566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221628"/>
                </a:solidFill>
                <a:latin typeface="Aptos"/>
              </a:rPr>
              <a:t>category / margin / authenticity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58368" y="4005072"/>
            <a:ext cx="3840480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658368" y="4005072"/>
            <a:ext cx="73152" cy="6217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4123944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0730"/>
                </a:solidFill>
                <a:latin typeface="Aptos"/>
              </a:rPr>
              <a:t>AUDIENCE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22960" y="4370832"/>
            <a:ext cx="3566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221628"/>
                </a:solidFill>
                <a:latin typeface="Aptos"/>
              </a:rPr>
              <a:t>concern / budget / context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58368" y="4718304"/>
            <a:ext cx="3840480" cy="62179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58368" y="4718304"/>
            <a:ext cx="73152" cy="621792"/>
          </a:xfrm>
          <a:prstGeom prst="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22960" y="4837176"/>
            <a:ext cx="356616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0730"/>
                </a:solidFill>
                <a:latin typeface="Aptos"/>
              </a:rPr>
              <a:t>PROOF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22960" y="5084064"/>
            <a:ext cx="3566160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221628"/>
                </a:solidFill>
                <a:latin typeface="Aptos"/>
              </a:rPr>
              <a:t>shade / texture / outcome / caveat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956048" y="2157984"/>
            <a:ext cx="7699248" cy="3986784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5285232" y="2459736"/>
            <a:ext cx="7086600" cy="21031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400" b="1" i="0">
                <a:solidFill>
                  <a:srgbClr val="F59E0B"/>
                </a:solidFill>
                <a:latin typeface="Aptos Display"/>
              </a:rPr>
              <a:t>BEAUTY PROOF BRIDGE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5669280" y="2971800"/>
            <a:ext cx="6263640" cy="502920"/>
          </a:xfrm>
          <a:prstGeom prst="roundRect">
            <a:avLst/>
          </a:prstGeom>
          <a:solidFill>
            <a:srgbClr val="F24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5833872" y="3063240"/>
            <a:ext cx="1051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ptos"/>
              </a:rPr>
              <a:t>MATCH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931152" y="3063240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FFFFFF"/>
                </a:solidFill>
                <a:latin typeface="Aptos"/>
              </a:rPr>
              <a:t>relevant creator ↔ SKU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8796528" y="3474720"/>
            <a:ext cx="0" cy="182880"/>
          </a:xfrm>
          <a:prstGeom prst="line">
            <a:avLst/>
          </a:prstGeom>
          <a:ln w="152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6" name="Rounded Rectangle 35"/>
          <p:cNvSpPr/>
          <p:nvPr/>
        </p:nvSpPr>
        <p:spPr>
          <a:xfrm>
            <a:off x="5669280" y="3611880"/>
            <a:ext cx="6263640" cy="502920"/>
          </a:xfrm>
          <a:prstGeom prst="roundRect">
            <a:avLst/>
          </a:prstGeom>
          <a:solidFill>
            <a:srgbClr val="36A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5833872" y="3703320"/>
            <a:ext cx="1051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ptos"/>
              </a:rPr>
              <a:t>CAPTURE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931152" y="3703320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FFFFFF"/>
                </a:solidFill>
                <a:latin typeface="Aptos"/>
              </a:rPr>
              <a:t>structured proof fields</a:t>
            </a:r>
          </a:p>
        </p:txBody>
      </p:sp>
      <p:cxnSp>
        <p:nvCxnSpPr>
          <p:cNvPr id="39" name="Connector 38"/>
          <p:cNvCxnSpPr/>
          <p:nvPr/>
        </p:nvCxnSpPr>
        <p:spPr>
          <a:xfrm>
            <a:off x="8796528" y="4114800"/>
            <a:ext cx="0" cy="182880"/>
          </a:xfrm>
          <a:prstGeom prst="line">
            <a:avLst/>
          </a:prstGeom>
          <a:ln w="152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0" name="Rounded Rectangle 39"/>
          <p:cNvSpPr/>
          <p:nvPr/>
        </p:nvSpPr>
        <p:spPr>
          <a:xfrm>
            <a:off x="5669280" y="4251960"/>
            <a:ext cx="6263640" cy="502920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833872" y="4343400"/>
            <a:ext cx="1051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70730"/>
                </a:solidFill>
                <a:latin typeface="Aptos"/>
              </a:rPr>
              <a:t>SURFACE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31152" y="4343400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370730"/>
                </a:solidFill>
                <a:latin typeface="Aptos"/>
              </a:rPr>
              <a:t>contextual Meesho decision point</a:t>
            </a:r>
          </a:p>
        </p:txBody>
      </p:sp>
      <p:cxnSp>
        <p:nvCxnSpPr>
          <p:cNvPr id="43" name="Connector 42"/>
          <p:cNvCxnSpPr/>
          <p:nvPr/>
        </p:nvCxnSpPr>
        <p:spPr>
          <a:xfrm>
            <a:off x="8796528" y="4754880"/>
            <a:ext cx="0" cy="182880"/>
          </a:xfrm>
          <a:prstGeom prst="line">
            <a:avLst/>
          </a:prstGeom>
          <a:ln w="152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4" name="Rounded Rectangle 43"/>
          <p:cNvSpPr/>
          <p:nvPr/>
        </p:nvSpPr>
        <p:spPr>
          <a:xfrm>
            <a:off x="5669280" y="4892040"/>
            <a:ext cx="6263640" cy="502920"/>
          </a:xfrm>
          <a:prstGeom prst="roundRect">
            <a:avLst/>
          </a:prstGeom>
          <a:solidFill>
            <a:srgbClr val="A4A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833872" y="4983480"/>
            <a:ext cx="1051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370730"/>
                </a:solidFill>
                <a:latin typeface="Aptos"/>
              </a:rPr>
              <a:t>ATTRIBUTE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931152" y="4983480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370730"/>
                </a:solidFill>
                <a:latin typeface="Aptos"/>
              </a:rPr>
              <a:t>creator / SKU / audience IDs</a:t>
            </a:r>
          </a:p>
        </p:txBody>
      </p:sp>
      <p:cxnSp>
        <p:nvCxnSpPr>
          <p:cNvPr id="47" name="Connector 46"/>
          <p:cNvCxnSpPr/>
          <p:nvPr/>
        </p:nvCxnSpPr>
        <p:spPr>
          <a:xfrm>
            <a:off x="8796528" y="5394960"/>
            <a:ext cx="0" cy="182880"/>
          </a:xfrm>
          <a:prstGeom prst="line">
            <a:avLst/>
          </a:prstGeom>
          <a:ln w="15240">
            <a:solidFill>
              <a:srgbClr val="F59E0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48" name="Rounded Rectangle 47"/>
          <p:cNvSpPr/>
          <p:nvPr/>
        </p:nvSpPr>
        <p:spPr>
          <a:xfrm>
            <a:off x="5669280" y="5532120"/>
            <a:ext cx="6263640" cy="502920"/>
          </a:xfrm>
          <a:prstGeom prst="roundRect">
            <a:avLst/>
          </a:prstGeom>
          <a:solidFill>
            <a:srgbClr val="E055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5833872" y="5623560"/>
            <a:ext cx="105156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00" b="1" i="0">
                <a:solidFill>
                  <a:srgbClr val="FFFFFF"/>
                </a:solidFill>
                <a:latin typeface="Aptos"/>
              </a:rPr>
              <a:t>LEARN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931152" y="5623560"/>
            <a:ext cx="475488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19" b="1" i="0">
                <a:solidFill>
                  <a:srgbClr val="FFFFFF"/>
                </a:solidFill>
                <a:latin typeface="Aptos"/>
              </a:rPr>
              <a:t>click, order, return, repeat, payout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2966192" y="2157984"/>
            <a:ext cx="4663440" cy="310896"/>
          </a:xfrm>
          <a:prstGeom prst="roundRect">
            <a:avLst/>
          </a:prstGeom>
          <a:solidFill>
            <a:srgbClr val="36A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3075920" y="2212848"/>
            <a:ext cx="444398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ptos"/>
              </a:rPr>
              <a:t>OUTPUTS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2966192" y="2578608"/>
            <a:ext cx="46634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12966192" y="2578608"/>
            <a:ext cx="73152" cy="713232"/>
          </a:xfrm>
          <a:prstGeom prst="rect">
            <a:avLst/>
          </a:prstGeom>
          <a:solidFill>
            <a:srgbClr val="36A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3130784" y="2697480"/>
            <a:ext cx="4389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0730"/>
                </a:solidFill>
                <a:latin typeface="Aptos"/>
              </a:rPr>
              <a:t>SHOPPER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3130784" y="2944368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221628"/>
                </a:solidFill>
                <a:latin typeface="Aptos"/>
              </a:rPr>
              <a:t>faster fit decision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2966192" y="3383280"/>
            <a:ext cx="46634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12966192" y="3383280"/>
            <a:ext cx="73152" cy="713232"/>
          </a:xfrm>
          <a:prstGeom prst="rect">
            <a:avLst/>
          </a:prstGeom>
          <a:solidFill>
            <a:srgbClr val="36A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3130784" y="3502152"/>
            <a:ext cx="4389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0730"/>
                </a:solidFill>
                <a:latin typeface="Aptos"/>
              </a:rPr>
              <a:t>SELLER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13130784" y="3749040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221628"/>
                </a:solidFill>
                <a:latin typeface="Aptos"/>
              </a:rPr>
              <a:t>better SKU demand signal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12966192" y="4187952"/>
            <a:ext cx="46634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2966192" y="4187952"/>
            <a:ext cx="73152" cy="713232"/>
          </a:xfrm>
          <a:prstGeom prst="rect">
            <a:avLst/>
          </a:prstGeom>
          <a:solidFill>
            <a:srgbClr val="36A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3130784" y="4306824"/>
            <a:ext cx="4389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0730"/>
                </a:solidFill>
                <a:latin typeface="Aptos"/>
              </a:rPr>
              <a:t>CREATOR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3130784" y="4553712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221628"/>
                </a:solidFill>
                <a:latin typeface="Aptos"/>
              </a:rPr>
              <a:t>clearer attribution + payout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2966192" y="4992624"/>
            <a:ext cx="4663440" cy="713232"/>
          </a:xfrm>
          <a:prstGeom prst="roundRect">
            <a:avLst/>
          </a:prstGeom>
          <a:solidFill>
            <a:srgbClr val="FFFFFF"/>
          </a:solidFill>
          <a:ln w="10160">
            <a:solidFill>
              <a:srgbClr val="DECEC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12966192" y="4992624"/>
            <a:ext cx="73152" cy="713232"/>
          </a:xfrm>
          <a:prstGeom prst="rect">
            <a:avLst/>
          </a:prstGeom>
          <a:solidFill>
            <a:srgbClr val="36A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3130784" y="5111496"/>
            <a:ext cx="438912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50" b="1" i="0">
                <a:solidFill>
                  <a:srgbClr val="370730"/>
                </a:solidFill>
                <a:latin typeface="Aptos"/>
              </a:rPr>
              <a:t>MEESHO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3130784" y="5358384"/>
            <a:ext cx="438912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30" b="0" i="0">
                <a:solidFill>
                  <a:srgbClr val="221628"/>
                </a:solidFill>
                <a:latin typeface="Aptos"/>
              </a:rPr>
              <a:t>better allocation data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658368" y="6565392"/>
            <a:ext cx="16971264" cy="795528"/>
          </a:xfrm>
          <a:prstGeom prst="roundRect">
            <a:avLst/>
          </a:prstGeom>
          <a:solidFill>
            <a:srgbClr val="FFE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914400" y="6793992"/>
            <a:ext cx="1645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00" b="1" i="0">
                <a:solidFill>
                  <a:srgbClr val="370730"/>
                </a:solidFill>
                <a:latin typeface="Aptos Display"/>
              </a:rPr>
              <a:t>Do not build the engine first. Build the first data-generating wedge that earns the right to build it.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566928" y="9857232"/>
            <a:ext cx="1709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675761"/>
                </a:solidFill>
                <a:latin typeface="Aptos"/>
              </a:rPr>
              <a:t>Future-state architecture; not a claim that Meesho currently has these matching signals.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3736"/>
            <a:ext cx="1353312" cy="673837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7080992" y="137160"/>
            <a:ext cx="786384" cy="548640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163288" y="182880"/>
            <a:ext cx="6217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F59E0B"/>
                </a:solidFill>
                <a:latin typeface="Aptos Display"/>
              </a:rPr>
              <a:t>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17568" y="448056"/>
            <a:ext cx="6949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ptos"/>
              </a:rPr>
              <a:t>meesho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1952" y="237744"/>
            <a:ext cx="11704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E05579"/>
                </a:solidFill>
                <a:latin typeface="Aptos"/>
              </a:rPr>
              <a:t>APPENDIX | PILOT ECONOMICS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1952" y="438912"/>
            <a:ext cx="145389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370730"/>
                </a:solidFill>
                <a:latin typeface="Aptos Display"/>
              </a:rPr>
              <a:t>Measurement turns the idea into a business case.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060704"/>
            <a:ext cx="17465040" cy="16510"/>
          </a:xfrm>
          <a:prstGeom prst="rect">
            <a:avLst/>
          </a:prstGeom>
          <a:solidFill>
            <a:srgbClr val="DECE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261872"/>
            <a:ext cx="1664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75761"/>
                </a:solidFill>
                <a:latin typeface="Aptos"/>
              </a:rPr>
              <a:t>We will size the opportunity from observed pilot deltas—not invented market-response percentages.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755648"/>
            <a:ext cx="17282160" cy="694944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58952" y="1975104"/>
            <a:ext cx="1677924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800" b="1" i="0">
                <a:solidFill>
                  <a:srgbClr val="FFFFFF"/>
                </a:solidFill>
                <a:latin typeface="Aptos Display"/>
              </a:rPr>
              <a:t>BPC NMV = active creators × relevant proof × click-through × PDP-to-order × AOV × repeat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788920"/>
            <a:ext cx="8366760" cy="310896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2648" y="2843784"/>
            <a:ext cx="81473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ptos"/>
              </a:rPr>
              <a:t>MEASUREMENT STACK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189720" y="2788920"/>
            <a:ext cx="8595360" cy="310896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99448" y="2843784"/>
            <a:ext cx="837590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ptos"/>
              </a:rPr>
              <a:t>WHAT BECOMES KNOWABLE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3209544"/>
            <a:ext cx="1600200" cy="107899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540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94360" y="336499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1" i="0">
                <a:solidFill>
                  <a:srgbClr val="370730"/>
                </a:solidFill>
                <a:latin typeface="Aptos"/>
              </a:rPr>
              <a:t>ACTIVE CREATORS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9224" y="3749039"/>
            <a:ext cx="1298448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221628"/>
                </a:solidFill>
                <a:latin typeface="Aptos"/>
              </a:rPr>
              <a:t>sample-to-post
retention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167128" y="3209544"/>
            <a:ext cx="1600200" cy="107899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540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258568" y="336499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1" i="0">
                <a:solidFill>
                  <a:srgbClr val="370730"/>
                </a:solidFill>
                <a:latin typeface="Aptos"/>
              </a:rPr>
              <a:t>RELEVANT PROOF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313432" y="3749039"/>
            <a:ext cx="1298448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221628"/>
                </a:solidFill>
                <a:latin typeface="Aptos"/>
              </a:rPr>
              <a:t>completeness
usefulness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831336" y="3209544"/>
            <a:ext cx="1600200" cy="107899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540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922776" y="336499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1" i="0">
                <a:solidFill>
                  <a:srgbClr val="370730"/>
                </a:solidFill>
                <a:latin typeface="Aptos"/>
              </a:rPr>
              <a:t>CLICK-THROUGH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977640" y="3749039"/>
            <a:ext cx="1298448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221628"/>
                </a:solidFill>
                <a:latin typeface="Aptos"/>
              </a:rPr>
              <a:t>placement
CTA quality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495544" y="3209544"/>
            <a:ext cx="1600200" cy="107899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540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586984" y="336499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1" i="0">
                <a:solidFill>
                  <a:srgbClr val="370730"/>
                </a:solidFill>
                <a:latin typeface="Aptos"/>
              </a:rPr>
              <a:t>CONVERSION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41848" y="3749039"/>
            <a:ext cx="1298448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221628"/>
                </a:solidFill>
                <a:latin typeface="Aptos"/>
              </a:rPr>
              <a:t>fit confidence
PDP support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7159752" y="3209544"/>
            <a:ext cx="1600200" cy="1078992"/>
          </a:xfrm>
          <a:prstGeom prst="roundRect">
            <a:avLst/>
          </a:prstGeom>
          <a:solidFill>
            <a:srgbClr val="FFFFFF"/>
          </a:solidFill>
          <a:ln w="13970">
            <a:solidFill>
              <a:srgbClr val="540C4A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7251192" y="3364992"/>
            <a:ext cx="1417320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20" b="1" i="0">
                <a:solidFill>
                  <a:srgbClr val="370730"/>
                </a:solidFill>
                <a:latin typeface="Aptos"/>
              </a:rPr>
              <a:t>REPEAT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306056" y="3749039"/>
            <a:ext cx="1298448" cy="3931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050" b="1" i="0">
                <a:solidFill>
                  <a:srgbClr val="221628"/>
                </a:solidFill>
                <a:latin typeface="Aptos"/>
              </a:rPr>
              <a:t>quality
returns / reorder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58368" y="4617720"/>
            <a:ext cx="7863840" cy="1828800"/>
          </a:xfrm>
          <a:prstGeom prst="rect">
            <a:avLst/>
          </a:prstGeom>
          <a:noFill/>
        </p:spPr>
        <p:txBody>
          <a:bodyPr wrap="square" lIns="73152" rIns="36576" tIns="36576" bIns="18288">
            <a:spAutoFit/>
          </a:bodyPr>
          <a:lstStyle/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200">
                <a:solidFill>
                  <a:srgbClr val="221628"/>
                </a:solidFill>
                <a:latin typeface="Aptos"/>
              </a:rPr>
              <a:t>• Unique creator / SKU / audience / treatment IDs.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200">
                <a:solidFill>
                  <a:srgbClr val="221628"/>
                </a:solidFill>
                <a:latin typeface="Aptos"/>
              </a:rPr>
              <a:t>• Tagged click, PDP, order and return events.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200">
                <a:solidFill>
                  <a:srgbClr val="221628"/>
                </a:solidFill>
                <a:latin typeface="Aptos"/>
              </a:rPr>
              <a:t>• Sample cost, creator time and payout.</a:t>
            </a:r>
          </a:p>
          <a:p>
            <a:pPr>
              <a:lnSpc>
                <a:spcPct val="102000"/>
              </a:lnSpc>
              <a:spcAft>
                <a:spcPts val="300"/>
              </a:spcAft>
            </a:pPr>
            <a:r>
              <a:rPr sz="1200">
                <a:solidFill>
                  <a:srgbClr val="221628"/>
                </a:solidFill>
                <a:latin typeface="Aptos"/>
              </a:rPr>
              <a:t>• Rating, defect and repeat cohort.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9189720" y="3273552"/>
            <a:ext cx="859536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6A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Oval 32"/>
          <p:cNvSpPr/>
          <p:nvPr/>
        </p:nvSpPr>
        <p:spPr>
          <a:xfrm>
            <a:off x="9400032" y="3429000"/>
            <a:ext cx="301752" cy="301752"/>
          </a:xfrm>
          <a:prstGeom prst="ellipse">
            <a:avLst/>
          </a:prstGeom>
          <a:solidFill>
            <a:srgbClr val="36ACC4"/>
          </a:solidFill>
          <a:ln w="8890">
            <a:solidFill>
              <a:srgbClr val="3707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9400032" y="3465576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370730"/>
                </a:solidFill>
                <a:latin typeface="Aptos"/>
              </a:rPr>
              <a:t>→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857232" y="3419856"/>
            <a:ext cx="7543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60" b="1" i="0">
                <a:solidFill>
                  <a:srgbClr val="221628"/>
                </a:solidFill>
                <a:latin typeface="Aptos"/>
              </a:rPr>
              <a:t>Which proof fields correlate with clicks and orders?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9189720" y="4005072"/>
            <a:ext cx="859536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9400032" y="4160520"/>
            <a:ext cx="301752" cy="301752"/>
          </a:xfrm>
          <a:prstGeom prst="ellipse">
            <a:avLst/>
          </a:prstGeom>
          <a:solidFill>
            <a:srgbClr val="F24A78"/>
          </a:solidFill>
          <a:ln w="8890">
            <a:solidFill>
              <a:srgbClr val="3707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9400032" y="4197096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370730"/>
                </a:solidFill>
                <a:latin typeface="Aptos"/>
              </a:rPr>
              <a:t>→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857232" y="4151376"/>
            <a:ext cx="7543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60" b="1" i="0">
                <a:solidFill>
                  <a:srgbClr val="221628"/>
                </a:solidFill>
                <a:latin typeface="Aptos"/>
              </a:rPr>
              <a:t>Which creators produce efficient, credible proof?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189720" y="4736592"/>
            <a:ext cx="859536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Oval 40"/>
          <p:cNvSpPr/>
          <p:nvPr/>
        </p:nvSpPr>
        <p:spPr>
          <a:xfrm>
            <a:off x="9400032" y="4892040"/>
            <a:ext cx="301752" cy="301752"/>
          </a:xfrm>
          <a:prstGeom prst="ellipse">
            <a:avLst/>
          </a:prstGeom>
          <a:solidFill>
            <a:srgbClr val="F59E0B"/>
          </a:solidFill>
          <a:ln w="8890">
            <a:solidFill>
              <a:srgbClr val="3707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400032" y="4928616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370730"/>
                </a:solidFill>
                <a:latin typeface="Aptos"/>
              </a:rPr>
              <a:t>→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857232" y="4882896"/>
            <a:ext cx="7543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60" b="1" i="0">
                <a:solidFill>
                  <a:srgbClr val="221628"/>
                </a:solidFill>
                <a:latin typeface="Aptos"/>
              </a:rPr>
              <a:t>Do targeted samples beat broad gifting?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9189720" y="5468112"/>
            <a:ext cx="859536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4AB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Oval 44"/>
          <p:cNvSpPr/>
          <p:nvPr/>
        </p:nvSpPr>
        <p:spPr>
          <a:xfrm>
            <a:off x="9400032" y="5623560"/>
            <a:ext cx="301752" cy="301752"/>
          </a:xfrm>
          <a:prstGeom prst="ellipse">
            <a:avLst/>
          </a:prstGeom>
          <a:solidFill>
            <a:srgbClr val="A4AB43"/>
          </a:solidFill>
          <a:ln w="8890">
            <a:solidFill>
              <a:srgbClr val="37073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400032" y="5660136"/>
            <a:ext cx="301752" cy="1828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950" b="1" i="0">
                <a:solidFill>
                  <a:srgbClr val="370730"/>
                </a:solidFill>
                <a:latin typeface="Aptos"/>
              </a:rPr>
              <a:t>→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857232" y="5614416"/>
            <a:ext cx="7543800" cy="23774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60" b="1" i="0">
                <a:solidFill>
                  <a:srgbClr val="221628"/>
                </a:solidFill>
                <a:latin typeface="Aptos"/>
              </a:rPr>
              <a:t>Does the bridge deserve scale or a kill?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9189720" y="6291072"/>
            <a:ext cx="8595360" cy="804672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400032" y="6501384"/>
            <a:ext cx="8183879" cy="30175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20" b="1" i="0">
                <a:solidFill>
                  <a:srgbClr val="FFFFFF"/>
                </a:solidFill>
                <a:latin typeface="Aptos Display"/>
              </a:rPr>
              <a:t>No uplift is claimed. The pilot is the mechanism for generating defensible uplift.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9857232"/>
            <a:ext cx="1709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675761"/>
                </a:solidFill>
                <a:latin typeface="Aptos"/>
              </a:rPr>
              <a:t>Illustrative measurement model only. No conversion, NMV, repeat or retention result is claimed.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7E0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ima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1480" y="173736"/>
            <a:ext cx="1353312" cy="673837"/>
          </a:xfrm>
          <a:prstGeom prst="rect">
            <a:avLst/>
          </a:prstGeom>
        </p:spPr>
      </p:pic>
      <p:sp>
        <p:nvSpPr>
          <p:cNvPr id="3" name="Rounded Rectangle 2"/>
          <p:cNvSpPr/>
          <p:nvPr/>
        </p:nvSpPr>
        <p:spPr>
          <a:xfrm>
            <a:off x="17080992" y="137160"/>
            <a:ext cx="786384" cy="548640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7163288" y="182880"/>
            <a:ext cx="621792" cy="228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2600" b="1" i="0">
                <a:solidFill>
                  <a:srgbClr val="F59E0B"/>
                </a:solidFill>
                <a:latin typeface="Aptos Display"/>
              </a:rPr>
              <a:t>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7117568" y="448056"/>
            <a:ext cx="694944" cy="128016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750" b="1" i="0">
                <a:solidFill>
                  <a:srgbClr val="FFFFFF"/>
                </a:solidFill>
                <a:latin typeface="Aptos"/>
              </a:rPr>
              <a:t>meesho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901952" y="237744"/>
            <a:ext cx="11704320" cy="16459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50" b="1" i="0">
                <a:solidFill>
                  <a:srgbClr val="E05579"/>
                </a:solidFill>
                <a:latin typeface="Aptos"/>
              </a:rPr>
              <a:t>APPENDIX | RISKS + ROADMAP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901952" y="438912"/>
            <a:ext cx="14538960" cy="4754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2400" b="1" i="0">
                <a:solidFill>
                  <a:srgbClr val="370730"/>
                </a:solidFill>
                <a:latin typeface="Aptos Display"/>
              </a:rPr>
              <a:t>A credible case makes disproof visible.</a:t>
            </a:r>
          </a:p>
        </p:txBody>
      </p:sp>
      <p:sp>
        <p:nvSpPr>
          <p:cNvPr id="8" name="Rectangle 7"/>
          <p:cNvSpPr/>
          <p:nvPr/>
        </p:nvSpPr>
        <p:spPr>
          <a:xfrm>
            <a:off x="411480" y="1060704"/>
            <a:ext cx="17465040" cy="16510"/>
          </a:xfrm>
          <a:prstGeom prst="rect">
            <a:avLst/>
          </a:prstGeom>
          <a:solidFill>
            <a:srgbClr val="DECEC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1261872"/>
            <a:ext cx="1664208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250" b="0" i="0">
                <a:solidFill>
                  <a:srgbClr val="675761"/>
                </a:solidFill>
                <a:latin typeface="Aptos"/>
              </a:rPr>
              <a:t>The bridge is only a winner if it survives creator, shopper, seller and economics reality.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755648"/>
            <a:ext cx="9189720" cy="310896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12648" y="1810512"/>
            <a:ext cx="897026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ptos"/>
              </a:rPr>
              <a:t>KILL CRITERIA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02920" y="2185416"/>
            <a:ext cx="91897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E05579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94944" y="2350008"/>
            <a:ext cx="2212848" cy="310896"/>
          </a:xfrm>
          <a:prstGeom prst="roundRect">
            <a:avLst/>
          </a:prstGeom>
          <a:solidFill>
            <a:srgbClr val="E05579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94944" y="2359152"/>
            <a:ext cx="221284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70" b="1" i="0">
                <a:solidFill>
                  <a:srgbClr val="FFFFFF"/>
                </a:solidFill>
                <a:latin typeface="Aptos"/>
              </a:rPr>
              <a:t>PROOF DOES NOT MOVE ORDERS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154680" y="2340864"/>
            <a:ext cx="61722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0" b="1" i="0">
                <a:solidFill>
                  <a:srgbClr val="221628"/>
                </a:solidFill>
                <a:latin typeface="Aptos"/>
              </a:rPr>
              <a:t>Kill or redesign; investigate price, quality, delivery and PDP UX.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2916936"/>
            <a:ext cx="91897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694944" y="3081528"/>
            <a:ext cx="2212848" cy="310896"/>
          </a:xfrm>
          <a:prstGeom prst="roundRect">
            <a:avLst/>
          </a:prstGeom>
          <a:solidFill>
            <a:srgbClr val="F24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94944" y="3090672"/>
            <a:ext cx="221284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70" b="1" i="0">
                <a:solidFill>
                  <a:srgbClr val="FFFFFF"/>
                </a:solidFill>
                <a:latin typeface="Aptos"/>
              </a:rPr>
              <a:t>CREATORS REJECT EFFORT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154680" y="3072384"/>
            <a:ext cx="61722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0" b="1" i="0">
                <a:solidFill>
                  <a:srgbClr val="221628"/>
                </a:solidFill>
                <a:latin typeface="Aptos"/>
              </a:rPr>
              <a:t>Shift toward economics, lighter formats or better matching.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02920" y="3648456"/>
            <a:ext cx="91897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94944" y="3813048"/>
            <a:ext cx="2212848" cy="31089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94944" y="3822192"/>
            <a:ext cx="221284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70" b="1" i="0">
                <a:solidFill>
                  <a:srgbClr val="FFFFFF"/>
                </a:solidFill>
                <a:latin typeface="Aptos"/>
              </a:rPr>
              <a:t>SAMPLING IS UNECONOMIC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154680" y="3803904"/>
            <a:ext cx="61722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0" b="1" i="0">
                <a:solidFill>
                  <a:srgbClr val="221628"/>
                </a:solidFill>
                <a:latin typeface="Aptos"/>
              </a:rPr>
              <a:t>Narrow SKU set; require seller co-funding or repeat potential.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02920" y="4379976"/>
            <a:ext cx="91897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36A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94944" y="4544568"/>
            <a:ext cx="2212848" cy="310896"/>
          </a:xfrm>
          <a:prstGeom prst="roundRect">
            <a:avLst/>
          </a:prstGeom>
          <a:solidFill>
            <a:srgbClr val="36A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94944" y="4553712"/>
            <a:ext cx="221284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70" b="1" i="0">
                <a:solidFill>
                  <a:srgbClr val="FFFFFF"/>
                </a:solidFill>
                <a:latin typeface="Aptos"/>
              </a:rPr>
              <a:t>PDP CANNOT CARRY PROOF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154680" y="4535424"/>
            <a:ext cx="61722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0" b="1" i="0">
                <a:solidFill>
                  <a:srgbClr val="221628"/>
                </a:solidFill>
                <a:latin typeface="Aptos"/>
              </a:rPr>
              <a:t>Use a landing/storefront surface while integration is built.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02920" y="5111496"/>
            <a:ext cx="918972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A4AB4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94944" y="5276088"/>
            <a:ext cx="2212848" cy="310896"/>
          </a:xfrm>
          <a:prstGeom prst="roundRect">
            <a:avLst/>
          </a:prstGeom>
          <a:solidFill>
            <a:srgbClr val="A4AB43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94944" y="5285232"/>
            <a:ext cx="221284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70" b="1" i="0">
                <a:solidFill>
                  <a:srgbClr val="FFFFFF"/>
                </a:solidFill>
                <a:latin typeface="Aptos"/>
              </a:rPr>
              <a:t>QUALITY DOMINATES RETURNS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154680" y="5266944"/>
            <a:ext cx="6172200" cy="24688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010" b="1" i="0">
                <a:solidFill>
                  <a:srgbClr val="221628"/>
                </a:solidFill>
                <a:latin typeface="Aptos"/>
              </a:rPr>
              <a:t>Move trust / authenticity to the front of the roadmap.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10012680" y="1755648"/>
            <a:ext cx="7772400" cy="310896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122408" y="1810512"/>
            <a:ext cx="7552944" cy="192024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950" b="1" i="0">
                <a:solidFill>
                  <a:srgbClr val="FFFFFF"/>
                </a:solidFill>
                <a:latin typeface="Aptos"/>
              </a:rPr>
              <a:t>SCALE PATH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10168128" y="2212848"/>
            <a:ext cx="7461504" cy="9692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36ACC4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10387584" y="2514600"/>
            <a:ext cx="1298448" cy="310896"/>
          </a:xfrm>
          <a:prstGeom prst="roundRect">
            <a:avLst/>
          </a:prstGeom>
          <a:solidFill>
            <a:srgbClr val="36ACC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387584" y="2523744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30 DAYS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1932920" y="2450592"/>
            <a:ext cx="5440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21628"/>
                </a:solidFill>
                <a:latin typeface="Aptos"/>
              </a:rPr>
              <a:t>Pilot bridge; instrument the full handoff.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10168128" y="3310128"/>
            <a:ext cx="7461504" cy="9692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24A78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10387584" y="3611880"/>
            <a:ext cx="1298448" cy="310896"/>
          </a:xfrm>
          <a:prstGeom prst="roundRect">
            <a:avLst/>
          </a:prstGeom>
          <a:solidFill>
            <a:srgbClr val="F24A7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387584" y="3621024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60 DAYS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932920" y="3547872"/>
            <a:ext cx="5440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21628"/>
                </a:solidFill>
                <a:latin typeface="Aptos"/>
              </a:rPr>
              <a:t>Add reusable proof fields and seller reporting.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0168128" y="4407408"/>
            <a:ext cx="7461504" cy="969264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ounded Rectangle 42"/>
          <p:cNvSpPr/>
          <p:nvPr/>
        </p:nvSpPr>
        <p:spPr>
          <a:xfrm>
            <a:off x="10387584" y="4709160"/>
            <a:ext cx="1298448" cy="310896"/>
          </a:xfrm>
          <a:prstGeom prst="roundRect">
            <a:avLst/>
          </a:prstGeom>
          <a:solidFill>
            <a:srgbClr val="F59E0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10387584" y="4718304"/>
            <a:ext cx="1298448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  <a:latin typeface="Aptos"/>
              </a:rPr>
              <a:t>90 DAYS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932920" y="4645152"/>
            <a:ext cx="5440680" cy="34747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1100" b="1" i="0">
                <a:solidFill>
                  <a:srgbClr val="221628"/>
                </a:solidFill>
                <a:latin typeface="Aptos"/>
              </a:rPr>
              <a:t>Use interaction data to rank creator–SKU–audience matches.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0168128" y="5833872"/>
            <a:ext cx="7461504" cy="969264"/>
          </a:xfrm>
          <a:prstGeom prst="roundRect">
            <a:avLst/>
          </a:prstGeom>
          <a:solidFill>
            <a:srgbClr val="37073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0424160" y="6071616"/>
            <a:ext cx="69494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510" b="1" i="0">
                <a:solidFill>
                  <a:srgbClr val="FFFFFF"/>
                </a:solidFill>
                <a:latin typeface="Aptos Display"/>
              </a:rPr>
              <a:t>North star:
more BPC NMV from better proof transfer.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02920" y="7068312"/>
            <a:ext cx="9189720" cy="640080"/>
          </a:xfrm>
          <a:prstGeom prst="roundRect">
            <a:avLst/>
          </a:prstGeom>
          <a:solidFill>
            <a:srgbClr val="FFEFD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31520" y="7269480"/>
            <a:ext cx="8732520" cy="256032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/>
            <a:r>
              <a:rPr sz="1340" b="1" i="0">
                <a:solidFill>
                  <a:srgbClr val="370730"/>
                </a:solidFill>
                <a:latin typeface="Aptos Display"/>
              </a:rPr>
              <a:t>Research next: creators + shoppers + sellers before scale.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9857232"/>
            <a:ext cx="17099280" cy="201168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/>
            <a:r>
              <a:rPr sz="819" b="0" i="0">
                <a:solidFill>
                  <a:srgbClr val="675761"/>
                </a:solidFill>
                <a:latin typeface="Aptos"/>
              </a:rPr>
              <a:t>Team: Samiksha Mitra | Slayed it | IIT Guwahati | Full source ledger remains in the workspace.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2006-08-16T00:00:00Z</dcterms:created>
</cp:coreProperties>
</file>