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2"/>
    <p:sldId id="262" r:id="rId13"/>
    <p:sldId id="263" r:id="rId14"/>
    <p:sldId id="264" r:id="rId15"/>
    <p:sldId id="265" r:id="rId16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1" roundtripDataSignature="AMtx7mi1OEMtuMi2TraVfKeQZ1Dn71tw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33" l="0" r="0" t="-833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 rot="-5400000">
            <a:off x="7160271" y="744682"/>
            <a:ext cx="3967448" cy="14347590"/>
          </a:xfrm>
          <a:custGeom>
            <a:rect b="b" l="l" r="r" t="t"/>
            <a:pathLst>
              <a:path extrusionOk="0" h="14347590" w="4277572">
                <a:moveTo>
                  <a:pt x="0" y="0"/>
                </a:moveTo>
                <a:lnTo>
                  <a:pt x="4277572" y="0"/>
                </a:lnTo>
                <a:lnTo>
                  <a:pt x="4277572" y="14347590"/>
                </a:lnTo>
                <a:lnTo>
                  <a:pt x="0" y="143475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89000"/>
            </a:blip>
            <a:stretch>
              <a:fillRect b="0" l="-228716" r="-216689" t="0"/>
            </a:stretch>
          </a:blipFill>
          <a:ln>
            <a:noFill/>
          </a:ln>
        </p:spPr>
      </p:sp>
      <p:sp>
        <p:nvSpPr>
          <p:cNvPr id="86" name="Rounded Rectangle 85"/>
          <p:cNvSpPr/>
          <p:nvPr/>
        </p:nvSpPr>
        <p:spPr>
          <a:xfrm>
            <a:off x="914400" y="960120"/>
            <a:ext cx="24688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4400" y="969264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DICE CHALLENGE | SEASON 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" y="1874519"/>
            <a:ext cx="10241280" cy="91440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3400" b="1" i="0">
                <a:solidFill>
                  <a:srgbClr val="370730"/>
                </a:solidFill>
                <a:latin typeface="Aptos Display"/>
              </a:rPr>
              <a:t>Growing Beauty &amp; Personal Care through Influencers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2688" y="2999232"/>
            <a:ext cx="868680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200" b="1" i="0">
                <a:solidFill>
                  <a:srgbClr val="540C4A"/>
                </a:solidFill>
                <a:latin typeface="Aptos Display"/>
              </a:rPr>
              <a:t>From creator proof to confident Meesho commerce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32688" y="3977639"/>
            <a:ext cx="7955279" cy="123444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07008" y="4279392"/>
            <a:ext cx="7406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40C4A"/>
                </a:solidFill>
                <a:latin typeface="Aptos"/>
              </a:rPr>
              <a:t>PROPOSED STRATEGIC CAPABILITY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07008" y="4590288"/>
            <a:ext cx="7406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221628"/>
                </a:solidFill>
                <a:latin typeface="Aptos Display"/>
              </a:rPr>
              <a:t>Creator x SKU x Audience Decision Engine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2688" y="6903720"/>
            <a:ext cx="7772400" cy="27432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500" b="1" i="0">
                <a:solidFill>
                  <a:srgbClr val="370730"/>
                </a:solidFill>
                <a:latin typeface="Aptos Display"/>
              </a:rPr>
              <a:t>Team Slayed 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32688" y="7251192"/>
            <a:ext cx="7772400" cy="27432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300" b="0" i="0">
                <a:solidFill>
                  <a:srgbClr val="675761"/>
                </a:solidFill>
                <a:latin typeface="Aptos"/>
              </a:rPr>
              <a:t>Samiksha Mitra | IIT Guwahati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2688" y="8686800"/>
            <a:ext cx="8412480" cy="292608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050" b="0" i="0">
                <a:solidFill>
                  <a:srgbClr val="675761"/>
                </a:solidFill>
                <a:latin typeface="Aptos"/>
              </a:rPr>
              <a:t>Research cut: 09 September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" y="9034272"/>
            <a:ext cx="8412480" cy="384048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200" b="1" i="0">
                <a:solidFill>
                  <a:srgbClr val="540C4A"/>
                </a:solidFill>
                <a:latin typeface="Aptos"/>
              </a:rPr>
              <a:t>Round 1 submission with evidence appendix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/>
          <p:nvPr/>
        </p:nvSpPr>
        <p:spPr>
          <a:xfrm>
            <a:off x="0" y="91845"/>
            <a:ext cx="18288000" cy="10195155"/>
          </a:xfrm>
          <a:custGeom>
            <a:rect b="b" l="l" r="r" t="t"/>
            <a:pathLst>
              <a:path extrusionOk="0" h="10195155" w="18288000">
                <a:moveTo>
                  <a:pt x="0" y="0"/>
                </a:moveTo>
                <a:lnTo>
                  <a:pt x="18288000" y="0"/>
                </a:lnTo>
                <a:lnTo>
                  <a:pt x="18288000" y="10195155"/>
                </a:lnTo>
                <a:lnTo>
                  <a:pt x="0" y="101951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-151655"/>
            </a:stretch>
          </a:blipFill>
          <a:ln>
            <a:noFill/>
          </a:ln>
        </p:spPr>
      </p:sp>
      <p:grpSp>
        <p:nvGrpSpPr>
          <p:cNvPr id="91" name="Google Shape;91;p2"/>
          <p:cNvGrpSpPr/>
          <p:nvPr/>
        </p:nvGrpSpPr>
        <p:grpSpPr>
          <a:xfrm>
            <a:off x="0" y="-36165"/>
            <a:ext cx="18288000" cy="2464240"/>
            <a:chOff x="0" y="-48220"/>
            <a:chExt cx="24384000" cy="3285653"/>
          </a:xfrm>
        </p:grpSpPr>
        <p:sp>
          <p:nvSpPr>
            <p:cNvPr id="92" name="Google Shape;92;p2"/>
            <p:cNvSpPr/>
            <p:nvPr/>
          </p:nvSpPr>
          <p:spPr>
            <a:xfrm>
              <a:off x="6699722" y="0"/>
              <a:ext cx="17684278" cy="3237433"/>
            </a:xfrm>
            <a:custGeom>
              <a:rect b="b" l="l" r="r" t="t"/>
              <a:pathLst>
                <a:path extrusionOk="0" h="3237433" w="17684278">
                  <a:moveTo>
                    <a:pt x="0" y="0"/>
                  </a:moveTo>
                  <a:lnTo>
                    <a:pt x="17684278" y="0"/>
                  </a:lnTo>
                  <a:lnTo>
                    <a:pt x="17684278" y="3237433"/>
                  </a:lnTo>
                  <a:lnTo>
                    <a:pt x="0" y="323743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-666342" l="0" r="0" t="0"/>
              </a:stretch>
            </a:blipFill>
            <a:ln>
              <a:noFill/>
            </a:ln>
          </p:spPr>
        </p:sp>
        <p:grpSp>
          <p:nvGrpSpPr>
            <p:cNvPr id="93" name="Google Shape;93;p2"/>
            <p:cNvGrpSpPr/>
            <p:nvPr/>
          </p:nvGrpSpPr>
          <p:grpSpPr>
            <a:xfrm>
              <a:off x="0" y="-48220"/>
              <a:ext cx="13015052" cy="3285653"/>
              <a:chOff x="0" y="-9525"/>
              <a:chExt cx="2570874" cy="649018"/>
            </a:xfrm>
          </p:grpSpPr>
          <p:sp>
            <p:nvSpPr>
              <p:cNvPr id="94" name="Google Shape;94;p2"/>
              <p:cNvSpPr/>
              <p:nvPr/>
            </p:nvSpPr>
            <p:spPr>
              <a:xfrm>
                <a:off x="0" y="0"/>
                <a:ext cx="2570874" cy="639493"/>
              </a:xfrm>
              <a:custGeom>
                <a:rect b="b" l="l" r="r" t="t"/>
                <a:pathLst>
                  <a:path extrusionOk="0" h="639493" w="2570874">
                    <a:moveTo>
                      <a:pt x="0" y="0"/>
                    </a:moveTo>
                    <a:lnTo>
                      <a:pt x="2570874" y="0"/>
                    </a:lnTo>
                    <a:lnTo>
                      <a:pt x="2570874" y="639493"/>
                    </a:lnTo>
                    <a:lnTo>
                      <a:pt x="0" y="639493"/>
                    </a:lnTo>
                    <a:close/>
                  </a:path>
                </a:pathLst>
              </a:custGeom>
              <a:solidFill>
                <a:srgbClr val="FFF3D7"/>
              </a:solidFill>
              <a:ln>
                <a:noFill/>
              </a:ln>
            </p:spPr>
          </p:sp>
          <p:sp>
            <p:nvSpPr>
              <p:cNvPr id="95" name="Google Shape;95;p2"/>
              <p:cNvSpPr txBox="1"/>
              <p:nvPr/>
            </p:nvSpPr>
            <p:spPr>
              <a:xfrm>
                <a:off x="0" y="-9525"/>
                <a:ext cx="2570873" cy="649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29375" lIns="29375" spcFirstLastPara="1" rIns="29375" wrap="square" tIns="29375">
                <a:noAutofit/>
              </a:bodyPr>
              <a:lstStyle/>
              <a:p>
                <a:pPr indent="0" lvl="0" marL="0" marR="0" rtl="0" algn="ctr">
                  <a:lnSpc>
                    <a:spcPct val="166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6" name="Google Shape;96;p2"/>
            <p:cNvSpPr/>
            <p:nvPr/>
          </p:nvSpPr>
          <p:spPr>
            <a:xfrm>
              <a:off x="538320" y="184543"/>
              <a:ext cx="5215177" cy="2868347"/>
            </a:xfrm>
            <a:custGeom>
              <a:rect b="b" l="l" r="r" t="t"/>
              <a:pathLst>
                <a:path extrusionOk="0" h="2868347" w="5215177">
                  <a:moveTo>
                    <a:pt x="0" y="0"/>
                  </a:moveTo>
                  <a:lnTo>
                    <a:pt x="5215177" y="0"/>
                  </a:lnTo>
                  <a:lnTo>
                    <a:pt x="5215177" y="2868347"/>
                  </a:lnTo>
                  <a:lnTo>
                    <a:pt x="0" y="286834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97" name="Google Shape;97;p2"/>
            <p:cNvSpPr/>
            <p:nvPr/>
          </p:nvSpPr>
          <p:spPr>
            <a:xfrm>
              <a:off x="935278" y="425330"/>
              <a:ext cx="4803566" cy="2386772"/>
            </a:xfrm>
            <a:custGeom>
              <a:rect b="b" l="l" r="r" t="t"/>
              <a:pathLst>
                <a:path extrusionOk="0" h="2386772" w="4803566">
                  <a:moveTo>
                    <a:pt x="0" y="0"/>
                  </a:moveTo>
                  <a:lnTo>
                    <a:pt x="4803566" y="0"/>
                  </a:lnTo>
                  <a:lnTo>
                    <a:pt x="4803566" y="2386772"/>
                  </a:lnTo>
                  <a:lnTo>
                    <a:pt x="0" y="238677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98" name="Rounded Rectangle 97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ROUND 1 | VALUE CHAIN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The leak is not beauty proof. It is the proof handoff.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1792" y="1609344"/>
            <a:ext cx="16459200" cy="45720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500" b="0" i="0">
                <a:solidFill>
                  <a:srgbClr val="675761"/>
                </a:solidFill>
                <a:latin typeface="Aptos"/>
              </a:rPr>
              <a:t>Creators already demonstrate fit, shade, texture and outcomes. The unanswered question is whether that context travels into a measurable Meesho purchase journey.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58368" y="2176272"/>
            <a:ext cx="2514600" cy="841248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1520" y="2258568"/>
            <a:ext cx="23682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CASE FACT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1520" y="2487168"/>
            <a:ext cx="23682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 Display"/>
              </a:rPr>
              <a:t>BPC under-indexes in affiliate NMV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364992" y="2176272"/>
            <a:ext cx="2514600" cy="841248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38144" y="2258568"/>
            <a:ext cx="23682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TEAM AUDIT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38144" y="2487168"/>
            <a:ext cx="23682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 Display"/>
              </a:rPr>
              <a:t>15 manual-quality records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71616" y="2176272"/>
            <a:ext cx="2514600" cy="8412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144768" y="2258568"/>
            <a:ext cx="23682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MEESHO SURFACE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44768" y="2487168"/>
            <a:ext cx="23682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 Display"/>
              </a:rPr>
              <a:t>10,000+ BPC listings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778240" y="2176272"/>
            <a:ext cx="2514600" cy="841248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851392" y="2258568"/>
            <a:ext cx="23682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COMPETITOR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51392" y="2487168"/>
            <a:ext cx="23682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 Display"/>
              </a:rPr>
              <a:t>1 public flow documented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310128"/>
            <a:ext cx="4572000" cy="27432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600" b="1" i="0">
                <a:solidFill>
                  <a:srgbClr val="370730"/>
                </a:solidFill>
                <a:latin typeface="Aptos Display"/>
              </a:rPr>
              <a:t>Creator-led BPC value chain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58368" y="3675887"/>
            <a:ext cx="2139696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58368" y="3675887"/>
            <a:ext cx="2139696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22376" y="370789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1. SKU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1520" y="3959351"/>
            <a:ext cx="1993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Brand defines product, claim and target cohort.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2798064" y="4105655"/>
            <a:ext cx="164592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/>
          <p:cNvSpPr/>
          <p:nvPr/>
        </p:nvSpPr>
        <p:spPr>
          <a:xfrm>
            <a:off x="2962656" y="3675887"/>
            <a:ext cx="2139696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962656" y="3675887"/>
            <a:ext cx="2139696" cy="219456"/>
          </a:xfrm>
          <a:prstGeom prst="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026664" y="370789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2. MATCH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035808" y="3959351"/>
            <a:ext cx="1993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Creator decides: will this work for my audience?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5102352" y="4105655"/>
            <a:ext cx="164592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5266944" y="3675887"/>
            <a:ext cx="2139696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266944" y="3675887"/>
            <a:ext cx="2139696" cy="219456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330952" y="370789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3. TRIAL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40096" y="3959351"/>
            <a:ext cx="1993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Product access enables credible use, not just unboxing.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7406640" y="4105655"/>
            <a:ext cx="164592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7571232" y="3675887"/>
            <a:ext cx="2139696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055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571232" y="3675887"/>
            <a:ext cx="2139696" cy="219456"/>
          </a:xfrm>
          <a:prstGeom prst="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5240" y="370789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4. PROOF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644384" y="3959351"/>
            <a:ext cx="1993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Demo, shade, texture, suitability and result.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9710928" y="4105655"/>
            <a:ext cx="164592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ounded Rectangle 136"/>
          <p:cNvSpPr/>
          <p:nvPr/>
        </p:nvSpPr>
        <p:spPr>
          <a:xfrm>
            <a:off x="9875520" y="3675887"/>
            <a:ext cx="2139696" cy="868680"/>
          </a:xfrm>
          <a:prstGeom prst="roundRect">
            <a:avLst/>
          </a:prstGeom>
          <a:solidFill>
            <a:srgbClr val="F6E8F3"/>
          </a:solidFill>
          <a:ln w="1778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75520" y="3675887"/>
            <a:ext cx="2139696" cy="219456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939528" y="370789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5. HANDOFF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948672" y="3959351"/>
            <a:ext cx="1993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Proof must survive the click into commerce.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2015216" y="4105655"/>
            <a:ext cx="164592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12179808" y="3675887"/>
            <a:ext cx="2139696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2179808" y="3675887"/>
            <a:ext cx="2139696" cy="219456"/>
          </a:xfrm>
          <a:prstGeom prst="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2243816" y="370789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6. DECISION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2252960" y="3959351"/>
            <a:ext cx="1993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Shopper resolves fit, trust, value and risk.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4319504" y="4105655"/>
            <a:ext cx="164592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14484096" y="3675887"/>
            <a:ext cx="2139696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4484096" y="3675887"/>
            <a:ext cx="2139696" cy="219456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4548104" y="370789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7. LEARN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557248" y="3959351"/>
            <a:ext cx="19933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Order, return, repeat and creator earnings.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8368" y="4919472"/>
            <a:ext cx="11475720" cy="1481328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6112" y="51206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40C4A"/>
                </a:solidFill>
                <a:latin typeface="Aptos"/>
              </a:rPr>
              <a:t>WHAT THE AUDIT SAYS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68680" y="5394960"/>
            <a:ext cx="10927080" cy="786384"/>
          </a:xfrm>
          <a:prstGeom prst="rect">
            <a:avLst/>
          </a:prstGeom>
          <a:noFill/>
        </p:spPr>
        <p:txBody>
          <a:bodyPr wrap="square" lIns="73152" rIns="36576" tIns="36576" bIns="18288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20">
                <a:solidFill>
                  <a:srgbClr val="221628"/>
                </a:solidFill>
                <a:latin typeface="Aptos"/>
              </a:rPr>
              <a:t>• Manual creator audits show decision-grade proof is already possible: shade/undertone, skin fit, texture, comparisons and outcomes.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20">
                <a:solidFill>
                  <a:srgbClr val="221628"/>
                </a:solidFill>
                <a:latin typeface="Aptos"/>
              </a:rPr>
              <a:t>• The audit does not show Meesho conversion, attribution, repeat or creator earnings; those are still the critical handoff unknowns.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2390120" y="3310128"/>
            <a:ext cx="4608576" cy="3090672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2673584" y="3584448"/>
            <a:ext cx="4069080" cy="27432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ptos Display"/>
              </a:rPr>
              <a:t>Evidence-backed diagnosis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2673584" y="4041648"/>
            <a:ext cx="3950208" cy="13258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ptos Display"/>
              </a:rPr>
              <a:t>Do not create more generic creator content first. Build the smallest bridge that carries useful beauty proof into Meesho's measurable commerce surface.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2673584" y="5577840"/>
            <a:ext cx="3858768" cy="502920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2819888" y="56875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Test the handoff before scaling the engine.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Evidence: S-001, M-CAT-001, COMP-FLOW-001, CCA manual-audit layer | Research cut: 09 Sep 2026 | Diagnosis remains a pilot hypothesis.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0" y="91845"/>
            <a:ext cx="18288000" cy="10195155"/>
          </a:xfrm>
          <a:custGeom>
            <a:rect b="b" l="l" r="r" t="t"/>
            <a:pathLst>
              <a:path extrusionOk="0" h="10195155" w="18288000">
                <a:moveTo>
                  <a:pt x="0" y="0"/>
                </a:moveTo>
                <a:lnTo>
                  <a:pt x="18288000" y="0"/>
                </a:lnTo>
                <a:lnTo>
                  <a:pt x="18288000" y="10195155"/>
                </a:lnTo>
                <a:lnTo>
                  <a:pt x="0" y="101951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-151655"/>
            </a:stretch>
          </a:blipFill>
          <a:ln>
            <a:noFill/>
          </a:ln>
        </p:spPr>
      </p:sp>
      <p:grpSp>
        <p:nvGrpSpPr>
          <p:cNvPr id="103" name="Google Shape;103;p3"/>
          <p:cNvGrpSpPr/>
          <p:nvPr/>
        </p:nvGrpSpPr>
        <p:grpSpPr>
          <a:xfrm>
            <a:off x="0" y="-36165"/>
            <a:ext cx="18288000" cy="2464240"/>
            <a:chOff x="0" y="-48220"/>
            <a:chExt cx="24384000" cy="3285653"/>
          </a:xfrm>
        </p:grpSpPr>
        <p:sp>
          <p:nvSpPr>
            <p:cNvPr id="104" name="Google Shape;104;p3"/>
            <p:cNvSpPr/>
            <p:nvPr/>
          </p:nvSpPr>
          <p:spPr>
            <a:xfrm>
              <a:off x="6699722" y="0"/>
              <a:ext cx="17684278" cy="3237433"/>
            </a:xfrm>
            <a:custGeom>
              <a:rect b="b" l="l" r="r" t="t"/>
              <a:pathLst>
                <a:path extrusionOk="0" h="3237433" w="17684278">
                  <a:moveTo>
                    <a:pt x="0" y="0"/>
                  </a:moveTo>
                  <a:lnTo>
                    <a:pt x="17684278" y="0"/>
                  </a:lnTo>
                  <a:lnTo>
                    <a:pt x="17684278" y="3237433"/>
                  </a:lnTo>
                  <a:lnTo>
                    <a:pt x="0" y="323743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-666342" l="0" r="0" t="0"/>
              </a:stretch>
            </a:blipFill>
            <a:ln>
              <a:noFill/>
            </a:ln>
          </p:spPr>
        </p:sp>
        <p:grpSp>
          <p:nvGrpSpPr>
            <p:cNvPr id="105" name="Google Shape;105;p3"/>
            <p:cNvGrpSpPr/>
            <p:nvPr/>
          </p:nvGrpSpPr>
          <p:grpSpPr>
            <a:xfrm>
              <a:off x="0" y="-48220"/>
              <a:ext cx="13015052" cy="3285653"/>
              <a:chOff x="0" y="-9525"/>
              <a:chExt cx="2570874" cy="649018"/>
            </a:xfrm>
          </p:grpSpPr>
          <p:sp>
            <p:nvSpPr>
              <p:cNvPr id="106" name="Google Shape;106;p3"/>
              <p:cNvSpPr/>
              <p:nvPr/>
            </p:nvSpPr>
            <p:spPr>
              <a:xfrm>
                <a:off x="0" y="0"/>
                <a:ext cx="2570874" cy="639493"/>
              </a:xfrm>
              <a:custGeom>
                <a:rect b="b" l="l" r="r" t="t"/>
                <a:pathLst>
                  <a:path extrusionOk="0" h="639493" w="2570874">
                    <a:moveTo>
                      <a:pt x="0" y="0"/>
                    </a:moveTo>
                    <a:lnTo>
                      <a:pt x="2570874" y="0"/>
                    </a:lnTo>
                    <a:lnTo>
                      <a:pt x="2570874" y="639493"/>
                    </a:lnTo>
                    <a:lnTo>
                      <a:pt x="0" y="639493"/>
                    </a:lnTo>
                    <a:close/>
                  </a:path>
                </a:pathLst>
              </a:custGeom>
              <a:solidFill>
                <a:srgbClr val="FFF3D7"/>
              </a:solidFill>
              <a:ln>
                <a:noFill/>
              </a:ln>
            </p:spPr>
          </p:sp>
          <p:sp>
            <p:nvSpPr>
              <p:cNvPr id="107" name="Google Shape;107;p3"/>
              <p:cNvSpPr txBox="1"/>
              <p:nvPr/>
            </p:nvSpPr>
            <p:spPr>
              <a:xfrm>
                <a:off x="0" y="-9525"/>
                <a:ext cx="2570873" cy="649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29375" lIns="29375" spcFirstLastPara="1" rIns="29375" wrap="square" tIns="29375">
                <a:noAutofit/>
              </a:bodyPr>
              <a:lstStyle/>
              <a:p>
                <a:pPr indent="0" lvl="0" marL="0" marR="0" rtl="0" algn="ctr">
                  <a:lnSpc>
                    <a:spcPct val="166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08" name="Google Shape;108;p3"/>
            <p:cNvSpPr/>
            <p:nvPr/>
          </p:nvSpPr>
          <p:spPr>
            <a:xfrm>
              <a:off x="538320" y="184543"/>
              <a:ext cx="5215177" cy="2868347"/>
            </a:xfrm>
            <a:custGeom>
              <a:rect b="b" l="l" r="r" t="t"/>
              <a:pathLst>
                <a:path extrusionOk="0" h="2868347" w="5215177">
                  <a:moveTo>
                    <a:pt x="0" y="0"/>
                  </a:moveTo>
                  <a:lnTo>
                    <a:pt x="5215177" y="0"/>
                  </a:lnTo>
                  <a:lnTo>
                    <a:pt x="5215177" y="2868347"/>
                  </a:lnTo>
                  <a:lnTo>
                    <a:pt x="0" y="286834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09" name="Google Shape;109;p3"/>
            <p:cNvSpPr/>
            <p:nvPr/>
          </p:nvSpPr>
          <p:spPr>
            <a:xfrm>
              <a:off x="935278" y="425330"/>
              <a:ext cx="4803566" cy="2386772"/>
            </a:xfrm>
            <a:custGeom>
              <a:rect b="b" l="l" r="r" t="t"/>
              <a:pathLst>
                <a:path extrusionOk="0" h="2386772" w="4803566">
                  <a:moveTo>
                    <a:pt x="0" y="0"/>
                  </a:moveTo>
                  <a:lnTo>
                    <a:pt x="4803566" y="0"/>
                  </a:lnTo>
                  <a:lnTo>
                    <a:pt x="4803566" y="2386772"/>
                  </a:lnTo>
                  <a:lnTo>
                    <a:pt x="0" y="238677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110" name="Rounded Rectangle 109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ROUND 1 | PRIORITIZATION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Prioritize the bridge before the engine.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792" y="1581912"/>
            <a:ext cx="16459200" cy="475488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450" b="0" i="0">
                <a:solidFill>
                  <a:srgbClr val="675761"/>
                </a:solidFill>
                <a:latin typeface="Aptos"/>
              </a:rPr>
              <a:t>Decision rule: choose the smallest lever that improves the creator, shopper and brand loop while generating the data required for the long-term capability.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58368" y="2286000"/>
            <a:ext cx="3703320" cy="411480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13232" y="2350008"/>
            <a:ext cx="359359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Lever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361688" y="2286000"/>
            <a:ext cx="1828800" cy="411480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416552" y="2350008"/>
            <a:ext cx="171907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30-day fit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190488" y="2286000"/>
            <a:ext cx="1828800" cy="411480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245352" y="2350008"/>
            <a:ext cx="171907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Learning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019288" y="2286000"/>
            <a:ext cx="1874519" cy="411480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74152" y="2350008"/>
            <a:ext cx="176479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Three-sided value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893807" y="2286000"/>
            <a:ext cx="3154680" cy="411480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48671" y="2350008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Evidence-led read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58368" y="2734056"/>
            <a:ext cx="370332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31520" y="2834640"/>
            <a:ext cx="355701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1" i="0">
                <a:solidFill>
                  <a:srgbClr val="221628"/>
                </a:solidFill>
                <a:latin typeface="Aptos"/>
              </a:rPr>
              <a:t>Acquire more creators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361688" y="2734056"/>
            <a:ext cx="182880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434840" y="2834640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High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190488" y="2734056"/>
            <a:ext cx="182880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263640" y="2834640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019288" y="2734056"/>
            <a:ext cx="1874519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092440" y="2834640"/>
            <a:ext cx="1728215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Medium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893807" y="2734056"/>
            <a:ext cx="315468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66959" y="2834640"/>
            <a:ext cx="300837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060" b="0" i="0">
                <a:solidFill>
                  <a:srgbClr val="221628"/>
                </a:solidFill>
                <a:latin typeface="Aptos"/>
              </a:rPr>
              <a:t>Supply is not the only unknown; does not test proof handoff.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58368" y="3483864"/>
            <a:ext cx="370332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3584448"/>
            <a:ext cx="355701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1" i="0">
                <a:solidFill>
                  <a:srgbClr val="221628"/>
                </a:solidFill>
                <a:latin typeface="Aptos"/>
              </a:rPr>
              <a:t>Increase commission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361688" y="3483864"/>
            <a:ext cx="182880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434840" y="3584448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High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0488" y="3483864"/>
            <a:ext cx="182880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263640" y="3584448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019288" y="3483864"/>
            <a:ext cx="1874519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092440" y="3584448"/>
            <a:ext cx="1728215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Creator-led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893807" y="3483864"/>
            <a:ext cx="315468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966959" y="3584448"/>
            <a:ext cx="300837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060" b="0" i="0">
                <a:solidFill>
                  <a:srgbClr val="221628"/>
                </a:solidFill>
                <a:latin typeface="Aptos"/>
              </a:rPr>
              <a:t>Can change behavior, but does not explain product or shopper uncertainty.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58368" y="4233672"/>
            <a:ext cx="370332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31520" y="4334256"/>
            <a:ext cx="355701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1" i="0">
                <a:solidFill>
                  <a:srgbClr val="221628"/>
                </a:solidFill>
                <a:latin typeface="Aptos"/>
              </a:rPr>
              <a:t>Broad free sampling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61688" y="4233672"/>
            <a:ext cx="182880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434840" y="4334256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Medium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190488" y="4233672"/>
            <a:ext cx="182880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263640" y="4334256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Medium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019288" y="4233672"/>
            <a:ext cx="1874519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092440" y="4334256"/>
            <a:ext cx="1728215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Medium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893807" y="4233672"/>
            <a:ext cx="315468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966959" y="4334256"/>
            <a:ext cx="300837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060" b="0" i="0">
                <a:solidFill>
                  <a:srgbClr val="221628"/>
                </a:solidFill>
                <a:latin typeface="Aptos"/>
              </a:rPr>
              <a:t>May create content, but can create waste without fit or measurement.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58368" y="4983480"/>
            <a:ext cx="3703320" cy="749808"/>
          </a:xfrm>
          <a:prstGeom prst="rect">
            <a:avLst/>
          </a:prstGeom>
          <a:solidFill>
            <a:srgbClr val="F6E8F3"/>
          </a:solidFill>
          <a:ln w="1524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31520" y="5084064"/>
            <a:ext cx="355701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1" i="0">
                <a:solidFill>
                  <a:srgbClr val="370730"/>
                </a:solidFill>
                <a:latin typeface="Aptos"/>
              </a:rPr>
              <a:t>Beauty Proof Bridge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361688" y="4983480"/>
            <a:ext cx="1828800" cy="749808"/>
          </a:xfrm>
          <a:prstGeom prst="rect">
            <a:avLst/>
          </a:prstGeom>
          <a:solidFill>
            <a:srgbClr val="F6E8F3"/>
          </a:solidFill>
          <a:ln w="1524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434840" y="5084064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1" i="0">
                <a:solidFill>
                  <a:srgbClr val="370730"/>
                </a:solidFill>
                <a:latin typeface="Aptos"/>
              </a:rPr>
              <a:t>High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190488" y="4983480"/>
            <a:ext cx="1828800" cy="749808"/>
          </a:xfrm>
          <a:prstGeom prst="rect">
            <a:avLst/>
          </a:prstGeom>
          <a:solidFill>
            <a:srgbClr val="F6E8F3"/>
          </a:solidFill>
          <a:ln w="1524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263640" y="5084064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1" i="0">
                <a:solidFill>
                  <a:srgbClr val="370730"/>
                </a:solidFill>
                <a:latin typeface="Aptos"/>
              </a:rPr>
              <a:t>High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019288" y="4983480"/>
            <a:ext cx="1874519" cy="749808"/>
          </a:xfrm>
          <a:prstGeom prst="rect">
            <a:avLst/>
          </a:prstGeom>
          <a:solidFill>
            <a:srgbClr val="F6E8F3"/>
          </a:solidFill>
          <a:ln w="1524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092440" y="5084064"/>
            <a:ext cx="1728215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1" i="0">
                <a:solidFill>
                  <a:srgbClr val="370730"/>
                </a:solidFill>
                <a:latin typeface="Aptos"/>
              </a:rPr>
              <a:t>High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9893807" y="4983480"/>
            <a:ext cx="3154680" cy="749808"/>
          </a:xfrm>
          <a:prstGeom prst="rect">
            <a:avLst/>
          </a:prstGeom>
          <a:solidFill>
            <a:srgbClr val="F6E8F3"/>
          </a:solidFill>
          <a:ln w="1524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966959" y="5084064"/>
            <a:ext cx="300837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060" b="1" i="0">
                <a:solidFill>
                  <a:srgbClr val="370730"/>
                </a:solidFill>
                <a:latin typeface="Aptos"/>
              </a:rPr>
              <a:t>Tests the live question: does structured proof improve the click-to-order handoff?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58368" y="5733288"/>
            <a:ext cx="370332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31520" y="5833872"/>
            <a:ext cx="355701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1" i="0">
                <a:solidFill>
                  <a:srgbClr val="221628"/>
                </a:solidFill>
                <a:latin typeface="Aptos"/>
              </a:rPr>
              <a:t>Full matching engine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361688" y="5733288"/>
            <a:ext cx="182880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434840" y="5833872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190488" y="5733288"/>
            <a:ext cx="182880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263640" y="5833872"/>
            <a:ext cx="168249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Very high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019288" y="5733288"/>
            <a:ext cx="1874519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92440" y="5833872"/>
            <a:ext cx="1728215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130" b="0" i="0">
                <a:solidFill>
                  <a:srgbClr val="221628"/>
                </a:solidFill>
                <a:latin typeface="Aptos"/>
              </a:rPr>
              <a:t>Very high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893807" y="5733288"/>
            <a:ext cx="3154680" cy="749808"/>
          </a:xfrm>
          <a:prstGeom prst="rect">
            <a:avLst/>
          </a:prstGeom>
          <a:solidFill>
            <a:srgbClr val="FFFFFF"/>
          </a:solidFill>
          <a:ln w="1524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9966959" y="5833872"/>
            <a:ext cx="3008376" cy="594360"/>
          </a:xfrm>
          <a:prstGeom prst="rect">
            <a:avLst/>
          </a:prstGeom>
          <a:noFill/>
        </p:spPr>
        <p:txBody>
          <a:bodyPr wrap="square" lIns="54864" rIns="54864" tIns="35661" bIns="19202" anchor="ctr">
            <a:spAutoFit/>
          </a:bodyPr>
          <a:lstStyle/>
          <a:p>
            <a:pPr algn="l"/>
            <a:r>
              <a:rPr sz="1060" b="0" i="0">
                <a:solidFill>
                  <a:srgbClr val="221628"/>
                </a:solidFill>
                <a:latin typeface="Aptos"/>
              </a:rPr>
              <a:t>Strategic destination, but needs interaction data first.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58368" y="6784848"/>
            <a:ext cx="11064240" cy="159105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14400" y="7022592"/>
            <a:ext cx="4114800" cy="27432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 Display"/>
              </a:rPr>
              <a:t>30-day wedge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14400" y="7388352"/>
            <a:ext cx="10287000" cy="68580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ptos Display"/>
              </a:rPr>
              <a:t>Beauty Proof Bridge: convert an existing creator review into a structured, attributable Meesho decision asset - without pretending the full matching engine already exists.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12024360" y="2286000"/>
            <a:ext cx="4983480" cy="6089904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2298680" y="2587752"/>
            <a:ext cx="4297680" cy="292608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800" b="1" i="0">
                <a:solidFill>
                  <a:srgbClr val="370730"/>
                </a:solidFill>
                <a:latin typeface="Aptos Display"/>
              </a:rPr>
              <a:t>Why this wins the first sprint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2252960" y="3063240"/>
            <a:ext cx="4315968" cy="2331720"/>
          </a:xfrm>
          <a:prstGeom prst="rect">
            <a:avLst/>
          </a:prstGeom>
          <a:noFill/>
        </p:spPr>
        <p:txBody>
          <a:bodyPr wrap="square" lIns="73152" rIns="36576" tIns="36576" bIns="18288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Builds on proof creators already know how to produce.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Makes the handoff measurable instead of relying on views or vague influence.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Serves brands with better product context, shoppers with faster fit decisions, and creators with clearer attribution.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Generates the interaction data needed for future Creator x SKU x Audience matching.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12298680" y="5806440"/>
            <a:ext cx="4261104" cy="117043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2490704" y="5998464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Aptos"/>
              </a:rPr>
              <a:t>Important constraint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2490704" y="6245352"/>
            <a:ext cx="381304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1628"/>
                </a:solidFill>
                <a:latin typeface="Aptos"/>
              </a:rPr>
              <a:t>The pilot must be allowed to kill the wedge if proof does not move transaction behavior.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Prioritization is a strategic decision under evidence constraints, not a completed H0-H5 statistical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/>
          <p:nvPr/>
        </p:nvSpPr>
        <p:spPr>
          <a:xfrm>
            <a:off x="0" y="91845"/>
            <a:ext cx="18288000" cy="10195155"/>
          </a:xfrm>
          <a:custGeom>
            <a:rect b="b" l="l" r="r" t="t"/>
            <a:pathLst>
              <a:path extrusionOk="0" h="10195155" w="18288000">
                <a:moveTo>
                  <a:pt x="0" y="0"/>
                </a:moveTo>
                <a:lnTo>
                  <a:pt x="18288000" y="0"/>
                </a:lnTo>
                <a:lnTo>
                  <a:pt x="18288000" y="10195155"/>
                </a:lnTo>
                <a:lnTo>
                  <a:pt x="0" y="101951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-151655"/>
            </a:stretch>
          </a:blipFill>
          <a:ln>
            <a:noFill/>
          </a:ln>
        </p:spPr>
      </p:sp>
      <p:grpSp>
        <p:nvGrpSpPr>
          <p:cNvPr id="115" name="Google Shape;115;p4"/>
          <p:cNvGrpSpPr/>
          <p:nvPr/>
        </p:nvGrpSpPr>
        <p:grpSpPr>
          <a:xfrm>
            <a:off x="0" y="-36165"/>
            <a:ext cx="18288000" cy="2464240"/>
            <a:chOff x="0" y="-48220"/>
            <a:chExt cx="24384000" cy="3285653"/>
          </a:xfrm>
        </p:grpSpPr>
        <p:sp>
          <p:nvSpPr>
            <p:cNvPr id="116" name="Google Shape;116;p4"/>
            <p:cNvSpPr/>
            <p:nvPr/>
          </p:nvSpPr>
          <p:spPr>
            <a:xfrm>
              <a:off x="6699722" y="0"/>
              <a:ext cx="17684278" cy="3237433"/>
            </a:xfrm>
            <a:custGeom>
              <a:rect b="b" l="l" r="r" t="t"/>
              <a:pathLst>
                <a:path extrusionOk="0" h="3237433" w="17684278">
                  <a:moveTo>
                    <a:pt x="0" y="0"/>
                  </a:moveTo>
                  <a:lnTo>
                    <a:pt x="17684278" y="0"/>
                  </a:lnTo>
                  <a:lnTo>
                    <a:pt x="17684278" y="3237433"/>
                  </a:lnTo>
                  <a:lnTo>
                    <a:pt x="0" y="323743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-666342" l="0" r="0" t="0"/>
              </a:stretch>
            </a:blipFill>
            <a:ln>
              <a:noFill/>
            </a:ln>
          </p:spPr>
        </p:sp>
        <p:grpSp>
          <p:nvGrpSpPr>
            <p:cNvPr id="117" name="Google Shape;117;p4"/>
            <p:cNvGrpSpPr/>
            <p:nvPr/>
          </p:nvGrpSpPr>
          <p:grpSpPr>
            <a:xfrm>
              <a:off x="0" y="-48220"/>
              <a:ext cx="13015052" cy="3285653"/>
              <a:chOff x="0" y="-9525"/>
              <a:chExt cx="2570874" cy="649018"/>
            </a:xfrm>
          </p:grpSpPr>
          <p:sp>
            <p:nvSpPr>
              <p:cNvPr id="118" name="Google Shape;118;p4"/>
              <p:cNvSpPr/>
              <p:nvPr/>
            </p:nvSpPr>
            <p:spPr>
              <a:xfrm>
                <a:off x="0" y="0"/>
                <a:ext cx="2570874" cy="639493"/>
              </a:xfrm>
              <a:custGeom>
                <a:rect b="b" l="l" r="r" t="t"/>
                <a:pathLst>
                  <a:path extrusionOk="0" h="639493" w="2570874">
                    <a:moveTo>
                      <a:pt x="0" y="0"/>
                    </a:moveTo>
                    <a:lnTo>
                      <a:pt x="2570874" y="0"/>
                    </a:lnTo>
                    <a:lnTo>
                      <a:pt x="2570874" y="639493"/>
                    </a:lnTo>
                    <a:lnTo>
                      <a:pt x="0" y="639493"/>
                    </a:lnTo>
                    <a:close/>
                  </a:path>
                </a:pathLst>
              </a:custGeom>
              <a:solidFill>
                <a:srgbClr val="FFF3D7"/>
              </a:solidFill>
              <a:ln>
                <a:noFill/>
              </a:ln>
            </p:spPr>
          </p:sp>
          <p:sp>
            <p:nvSpPr>
              <p:cNvPr id="119" name="Google Shape;119;p4"/>
              <p:cNvSpPr txBox="1"/>
              <p:nvPr/>
            </p:nvSpPr>
            <p:spPr>
              <a:xfrm>
                <a:off x="0" y="-9525"/>
                <a:ext cx="2570873" cy="649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29375" lIns="29375" spcFirstLastPara="1" rIns="29375" wrap="square" tIns="29375">
                <a:noAutofit/>
              </a:bodyPr>
              <a:lstStyle/>
              <a:p>
                <a:pPr indent="0" lvl="0" marL="0" marR="0" rtl="0" algn="ctr">
                  <a:lnSpc>
                    <a:spcPct val="166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20" name="Google Shape;120;p4"/>
            <p:cNvSpPr/>
            <p:nvPr/>
          </p:nvSpPr>
          <p:spPr>
            <a:xfrm>
              <a:off x="538320" y="184543"/>
              <a:ext cx="5215177" cy="2868347"/>
            </a:xfrm>
            <a:custGeom>
              <a:rect b="b" l="l" r="r" t="t"/>
              <a:pathLst>
                <a:path extrusionOk="0" h="2868347" w="5215177">
                  <a:moveTo>
                    <a:pt x="0" y="0"/>
                  </a:moveTo>
                  <a:lnTo>
                    <a:pt x="5215177" y="0"/>
                  </a:lnTo>
                  <a:lnTo>
                    <a:pt x="5215177" y="2868347"/>
                  </a:lnTo>
                  <a:lnTo>
                    <a:pt x="0" y="286834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21" name="Google Shape;121;p4"/>
            <p:cNvSpPr/>
            <p:nvPr/>
          </p:nvSpPr>
          <p:spPr>
            <a:xfrm>
              <a:off x="935278" y="425330"/>
              <a:ext cx="4803566" cy="2386772"/>
            </a:xfrm>
            <a:custGeom>
              <a:rect b="b" l="l" r="r" t="t"/>
              <a:pathLst>
                <a:path extrusionOk="0" h="2386772" w="4803566">
                  <a:moveTo>
                    <a:pt x="0" y="0"/>
                  </a:moveTo>
                  <a:lnTo>
                    <a:pt x="4803566" y="0"/>
                  </a:lnTo>
                  <a:lnTo>
                    <a:pt x="4803566" y="2386772"/>
                  </a:lnTo>
                  <a:lnTo>
                    <a:pt x="0" y="238677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122" name="Rounded Rectangle 121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ROUND 1 | QUICK WIN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30 days to prove whether proof transfer moves BPC commerce.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1572768"/>
            <a:ext cx="16971264" cy="704088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1755648"/>
            <a:ext cx="16459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Beauty Proof Bridge = sample a small, relevant SKU set, structure the creator proof, surface it at the decision point, and measure the complete handoff.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3232" y="2743200"/>
            <a:ext cx="260604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13232" y="2743200"/>
            <a:ext cx="2606040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7240" y="2775204"/>
            <a:ext cx="24780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1. Select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" y="3026664"/>
            <a:ext cx="2459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10-20 hero BPC SKUs with clear audience/use-case signals.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3319272" y="3172968"/>
            <a:ext cx="182880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/>
          <p:cNvSpPr/>
          <p:nvPr/>
        </p:nvSpPr>
        <p:spPr>
          <a:xfrm>
            <a:off x="3502152" y="2743200"/>
            <a:ext cx="260604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502152" y="2743200"/>
            <a:ext cx="2606040" cy="219456"/>
          </a:xfrm>
          <a:prstGeom prst="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566160" y="2775204"/>
            <a:ext cx="24780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2. Match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75304" y="3026664"/>
            <a:ext cx="2459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Invite a small creator cohort based on audience and category fit.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6108192" y="3172968"/>
            <a:ext cx="182880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6291072" y="2743200"/>
            <a:ext cx="260604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291072" y="2743200"/>
            <a:ext cx="2606040" cy="219456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55080" y="2775204"/>
            <a:ext cx="24780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3. Sample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64224" y="3026664"/>
            <a:ext cx="2459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Provide targeted product access; log cost and trial completion.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8897112" y="3172968"/>
            <a:ext cx="182880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9079992" y="2743200"/>
            <a:ext cx="260604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055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9079992" y="2743200"/>
            <a:ext cx="2606040" cy="219456"/>
          </a:xfrm>
          <a:prstGeom prst="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00" y="2775204"/>
            <a:ext cx="24780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4. Structure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53144" y="3026664"/>
            <a:ext cx="2459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Capture fit, shade, texture, result, caveat and disclosure.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11686032" y="3172968"/>
            <a:ext cx="182880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ounded Rectangle 148"/>
          <p:cNvSpPr/>
          <p:nvPr/>
        </p:nvSpPr>
        <p:spPr>
          <a:xfrm>
            <a:off x="11868912" y="2743200"/>
            <a:ext cx="2606040" cy="868680"/>
          </a:xfrm>
          <a:prstGeom prst="roundRect">
            <a:avLst/>
          </a:prstGeom>
          <a:solidFill>
            <a:srgbClr val="F6E8F3"/>
          </a:solidFill>
          <a:ln w="1778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1868912" y="2743200"/>
            <a:ext cx="2606040" cy="219456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1932920" y="2775204"/>
            <a:ext cx="24780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5. Surface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942064" y="3026664"/>
            <a:ext cx="2459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Attach proof to the Meesho commerce decision point.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14474952" y="3172968"/>
            <a:ext cx="182880" cy="0"/>
          </a:xfrm>
          <a:prstGeom prst="line">
            <a:avLst/>
          </a:prstGeom>
          <a:ln w="17780">
            <a:solidFill>
              <a:srgbClr val="F24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14657832" y="2743200"/>
            <a:ext cx="260604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4657832" y="2743200"/>
            <a:ext cx="2606040" cy="219456"/>
          </a:xfrm>
          <a:prstGeom prst="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4721840" y="2775204"/>
            <a:ext cx="24780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6. Measure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4730984" y="3026664"/>
            <a:ext cx="2459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21628"/>
                </a:solidFill>
                <a:latin typeface="Aptos"/>
              </a:rPr>
              <a:t>Click -&gt; order -&gt; return -&gt; repeat -&gt; creator earnings.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13232" y="4096512"/>
            <a:ext cx="8001000" cy="318211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60120" y="4370832"/>
            <a:ext cx="4023360" cy="27432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800" b="1" i="0">
                <a:solidFill>
                  <a:srgbClr val="370730"/>
                </a:solidFill>
                <a:latin typeface="Aptos Display"/>
              </a:rPr>
              <a:t>Pilot design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32688" y="4800600"/>
            <a:ext cx="7360920" cy="2011680"/>
          </a:xfrm>
          <a:prstGeom prst="rect">
            <a:avLst/>
          </a:prstGeom>
          <a:noFill/>
        </p:spPr>
        <p:txBody>
          <a:bodyPr wrap="square" lIns="73152" rIns="36576" tIns="36576" bIns="18288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20">
                <a:solidFill>
                  <a:srgbClr val="221628"/>
                </a:solidFill>
                <a:latin typeface="Aptos"/>
              </a:rPr>
              <a:t>• Proposed cohort: 10 sellers, 10-20 SKUs, 25-50 creators, four weeks.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20">
                <a:solidFill>
                  <a:srgbClr val="221628"/>
                </a:solidFill>
                <a:latin typeface="Aptos"/>
              </a:rPr>
              <a:t>• Treatment: structured proof plus tagged commerce surface.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20">
                <a:solidFill>
                  <a:srgbClr val="221628"/>
                </a:solidFill>
                <a:latin typeface="Aptos"/>
              </a:rPr>
              <a:t>• Control: comparable creator-led SKUs using the existing link/PDP journey.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20">
                <a:solidFill>
                  <a:srgbClr val="221628"/>
                </a:solidFill>
                <a:latin typeface="Aptos"/>
              </a:rPr>
              <a:t>• No scale decision until the pilot records the full funnel and creator effort.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961120" y="4096512"/>
            <a:ext cx="8686800" cy="3182112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235440" y="4370832"/>
            <a:ext cx="4389120" cy="27432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 Display"/>
              </a:rPr>
              <a:t>Pre-registered decision metrics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235440" y="4828032"/>
            <a:ext cx="1234440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235440" y="4837176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CREATOR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25328" y="4837176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10" b="1" i="0">
                <a:solidFill>
                  <a:srgbClr val="FFFFFF"/>
                </a:solidFill>
                <a:latin typeface="Aptos"/>
              </a:rPr>
              <a:t>sample-to-post, effort/hour, earnings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235440" y="5340096"/>
            <a:ext cx="1234440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235440" y="534924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CONTENT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625328" y="5349240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10" b="1" i="0">
                <a:solidFill>
                  <a:srgbClr val="FFFFFF"/>
                </a:solidFill>
                <a:latin typeface="Aptos"/>
              </a:rPr>
              <a:t>proof completeness, audience questions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9235440" y="5852160"/>
            <a:ext cx="1234440" cy="3108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235440" y="58613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COMMERCE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625328" y="5861304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10" b="1" i="0">
                <a:solidFill>
                  <a:srgbClr val="FFFFFF"/>
                </a:solidFill>
                <a:latin typeface="Aptos"/>
              </a:rPr>
              <a:t>click-through, PDP-to-order, AOV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9235440" y="6364224"/>
            <a:ext cx="1234440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235440" y="6373368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QUALITY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625328" y="6373368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10" b="1" i="0">
                <a:solidFill>
                  <a:srgbClr val="FFFFFF"/>
                </a:solidFill>
                <a:latin typeface="Aptos"/>
              </a:rPr>
              <a:t>returns, ratings, repeat signal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13232" y="7662672"/>
            <a:ext cx="16934688" cy="932688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960120" y="7854696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40C4A"/>
                </a:solidFill>
                <a:latin typeface="Aptos"/>
              </a:rPr>
              <a:t>KILL / SCALE RULE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063240" y="7818120"/>
            <a:ext cx="1412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21628"/>
                </a:solidFill>
                <a:latin typeface="Aptos Display"/>
              </a:rPr>
              <a:t>Scale only if the treatment improves the measurable handoff without making creator effort or sample cost uneconomic. Otherwise redirect to the winning leakage point.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Pilot numbers are proposed operating parameters, not observed results. The experiment is designed to generate the missing Meesho-specific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"/>
          <p:cNvSpPr/>
          <p:nvPr/>
        </p:nvSpPr>
        <p:spPr>
          <a:xfrm>
            <a:off x="0" y="91845"/>
            <a:ext cx="18288000" cy="10195155"/>
          </a:xfrm>
          <a:custGeom>
            <a:rect b="b" l="l" r="r" t="t"/>
            <a:pathLst>
              <a:path extrusionOk="0" h="10195155" w="18288000">
                <a:moveTo>
                  <a:pt x="0" y="0"/>
                </a:moveTo>
                <a:lnTo>
                  <a:pt x="18288000" y="0"/>
                </a:lnTo>
                <a:lnTo>
                  <a:pt x="18288000" y="10195155"/>
                </a:lnTo>
                <a:lnTo>
                  <a:pt x="0" y="1019515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-151655"/>
            </a:stretch>
          </a:blipFill>
          <a:ln>
            <a:noFill/>
          </a:ln>
        </p:spPr>
      </p:sp>
      <p:grpSp>
        <p:nvGrpSpPr>
          <p:cNvPr id="127" name="Google Shape;127;p5"/>
          <p:cNvGrpSpPr/>
          <p:nvPr/>
        </p:nvGrpSpPr>
        <p:grpSpPr>
          <a:xfrm>
            <a:off x="0" y="-36165"/>
            <a:ext cx="18288000" cy="2464240"/>
            <a:chOff x="0" y="-48220"/>
            <a:chExt cx="24384000" cy="3285653"/>
          </a:xfrm>
        </p:grpSpPr>
        <p:sp>
          <p:nvSpPr>
            <p:cNvPr id="128" name="Google Shape;128;p5"/>
            <p:cNvSpPr/>
            <p:nvPr/>
          </p:nvSpPr>
          <p:spPr>
            <a:xfrm>
              <a:off x="6699722" y="0"/>
              <a:ext cx="17684278" cy="3237433"/>
            </a:xfrm>
            <a:custGeom>
              <a:rect b="b" l="l" r="r" t="t"/>
              <a:pathLst>
                <a:path extrusionOk="0" h="3237433" w="17684278">
                  <a:moveTo>
                    <a:pt x="0" y="0"/>
                  </a:moveTo>
                  <a:lnTo>
                    <a:pt x="17684278" y="0"/>
                  </a:lnTo>
                  <a:lnTo>
                    <a:pt x="17684278" y="3237433"/>
                  </a:lnTo>
                  <a:lnTo>
                    <a:pt x="0" y="323743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-666342" l="0" r="0" t="0"/>
              </a:stretch>
            </a:blipFill>
            <a:ln>
              <a:noFill/>
            </a:ln>
          </p:spPr>
        </p:sp>
        <p:grpSp>
          <p:nvGrpSpPr>
            <p:cNvPr id="129" name="Google Shape;129;p5"/>
            <p:cNvGrpSpPr/>
            <p:nvPr/>
          </p:nvGrpSpPr>
          <p:grpSpPr>
            <a:xfrm>
              <a:off x="0" y="-48220"/>
              <a:ext cx="13015052" cy="3285653"/>
              <a:chOff x="0" y="-9525"/>
              <a:chExt cx="2570874" cy="649018"/>
            </a:xfrm>
          </p:grpSpPr>
          <p:sp>
            <p:nvSpPr>
              <p:cNvPr id="130" name="Google Shape;130;p5"/>
              <p:cNvSpPr/>
              <p:nvPr/>
            </p:nvSpPr>
            <p:spPr>
              <a:xfrm>
                <a:off x="0" y="0"/>
                <a:ext cx="2570874" cy="639493"/>
              </a:xfrm>
              <a:custGeom>
                <a:rect b="b" l="l" r="r" t="t"/>
                <a:pathLst>
                  <a:path extrusionOk="0" h="639493" w="2570874">
                    <a:moveTo>
                      <a:pt x="0" y="0"/>
                    </a:moveTo>
                    <a:lnTo>
                      <a:pt x="2570874" y="0"/>
                    </a:lnTo>
                    <a:lnTo>
                      <a:pt x="2570874" y="639493"/>
                    </a:lnTo>
                    <a:lnTo>
                      <a:pt x="0" y="639493"/>
                    </a:lnTo>
                    <a:close/>
                  </a:path>
                </a:pathLst>
              </a:custGeom>
              <a:solidFill>
                <a:srgbClr val="FFF3D7"/>
              </a:solidFill>
              <a:ln>
                <a:noFill/>
              </a:ln>
            </p:spPr>
          </p:sp>
          <p:sp>
            <p:nvSpPr>
              <p:cNvPr id="131" name="Google Shape;131;p5"/>
              <p:cNvSpPr txBox="1"/>
              <p:nvPr/>
            </p:nvSpPr>
            <p:spPr>
              <a:xfrm>
                <a:off x="0" y="-9525"/>
                <a:ext cx="2570873" cy="649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29375" lIns="29375" spcFirstLastPara="1" rIns="29375" wrap="square" tIns="29375">
                <a:noAutofit/>
              </a:bodyPr>
              <a:lstStyle/>
              <a:p>
                <a:pPr indent="0" lvl="0" marL="0" marR="0" rtl="0" algn="ctr">
                  <a:lnSpc>
                    <a:spcPct val="166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32" name="Google Shape;132;p5"/>
            <p:cNvSpPr/>
            <p:nvPr/>
          </p:nvSpPr>
          <p:spPr>
            <a:xfrm>
              <a:off x="538320" y="184543"/>
              <a:ext cx="5215177" cy="2868347"/>
            </a:xfrm>
            <a:custGeom>
              <a:rect b="b" l="l" r="r" t="t"/>
              <a:pathLst>
                <a:path extrusionOk="0" h="2868347" w="5215177">
                  <a:moveTo>
                    <a:pt x="0" y="0"/>
                  </a:moveTo>
                  <a:lnTo>
                    <a:pt x="5215177" y="0"/>
                  </a:lnTo>
                  <a:lnTo>
                    <a:pt x="5215177" y="2868347"/>
                  </a:lnTo>
                  <a:lnTo>
                    <a:pt x="0" y="286834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33" name="Google Shape;133;p5"/>
            <p:cNvSpPr/>
            <p:nvPr/>
          </p:nvSpPr>
          <p:spPr>
            <a:xfrm>
              <a:off x="935278" y="425330"/>
              <a:ext cx="4803566" cy="2386772"/>
            </a:xfrm>
            <a:custGeom>
              <a:rect b="b" l="l" r="r" t="t"/>
              <a:pathLst>
                <a:path extrusionOk="0" h="2386772" w="4803566">
                  <a:moveTo>
                    <a:pt x="0" y="0"/>
                  </a:moveTo>
                  <a:lnTo>
                    <a:pt x="4803566" y="0"/>
                  </a:lnTo>
                  <a:lnTo>
                    <a:pt x="4803566" y="2386772"/>
                  </a:lnTo>
                  <a:lnTo>
                    <a:pt x="0" y="238677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134" name="Rounded Rectangle 133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APPENDIX | METHOD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Research architecture: separate observation, inference and model.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1792" y="1591056"/>
            <a:ext cx="16459200" cy="4114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450" b="0" i="0">
                <a:solidFill>
                  <a:srgbClr val="675761"/>
                </a:solidFill>
                <a:latin typeface="Aptos"/>
              </a:rPr>
              <a:t>The deck only promotes a claim when the artifact, source, limitation and funnel node are visible.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49808" y="2286000"/>
            <a:ext cx="2743200" cy="1051560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41832" y="2478024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 Display"/>
              </a:rPr>
              <a:t>OBSERVED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703320" y="2286000"/>
            <a:ext cx="6629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904487" y="2432304"/>
            <a:ext cx="6236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21628"/>
                </a:solidFill>
                <a:latin typeface="Aptos"/>
              </a:rPr>
              <a:t>Case brief, category page, supplied manual audit notes, official YouTube documentation.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0652760" y="2286000"/>
            <a:ext cx="6967728" cy="1051560"/>
          </a:xfrm>
          <a:prstGeom prst="roundRect">
            <a:avLst/>
          </a:prstGeom>
          <a:solidFill>
            <a:srgbClr val="F6E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881360" y="2441448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370730"/>
                </a:solidFill>
                <a:latin typeface="Aptos"/>
              </a:rPr>
              <a:t>Can support a slide claim with a source ID.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49808" y="3584448"/>
            <a:ext cx="274320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41832" y="3776472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 Display"/>
              </a:rPr>
              <a:t>INFERENCE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703320" y="3584448"/>
            <a:ext cx="6629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904487" y="3730752"/>
            <a:ext cx="6236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21628"/>
                </a:solidFill>
                <a:latin typeface="Aptos"/>
              </a:rPr>
              <a:t>The proof handoff may be the highest-addressability gap.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10652760" y="3584448"/>
            <a:ext cx="6967728" cy="105156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881360" y="3739896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370730"/>
                </a:solidFill>
                <a:latin typeface="Aptos"/>
              </a:rPr>
              <a:t>Must be labeled as a diagnosis or hypothesis.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49808" y="4882896"/>
            <a:ext cx="2743200" cy="1051560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41832" y="5074920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 Display"/>
              </a:rPr>
              <a:t>ILLUSTRATIVE MODEL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703320" y="4882896"/>
            <a:ext cx="6629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904487" y="5029200"/>
            <a:ext cx="6236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21628"/>
                </a:solidFill>
                <a:latin typeface="Aptos"/>
              </a:rPr>
              <a:t>Pilot cohort, measurement design and scenario economics.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0652760" y="4882896"/>
            <a:ext cx="6967728" cy="105156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881360" y="5038344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370730"/>
                </a:solidFill>
                <a:latin typeface="Aptos"/>
              </a:rPr>
              <a:t>Shows how Meesho will learn; not a reported result.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49808" y="6181344"/>
            <a:ext cx="2743200" cy="1051560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41832" y="63733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 Display"/>
              </a:rPr>
              <a:t>PENDING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703320" y="6181344"/>
            <a:ext cx="66294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055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904487" y="6327648"/>
            <a:ext cx="6236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21628"/>
                </a:solidFill>
                <a:latin typeface="Aptos"/>
              </a:rPr>
              <a:t>PDP decision support, conversion, repeat, creator earnings and primary respondent evidence.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10652760" y="6181344"/>
            <a:ext cx="6967728" cy="105156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881360" y="6336792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370730"/>
                </a:solidFill>
                <a:latin typeface="Aptos"/>
              </a:rPr>
              <a:t>Cannot be presented as established fact.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49808" y="7635240"/>
            <a:ext cx="16870680" cy="10058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005840" y="7882127"/>
            <a:ext cx="1636775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Research cut: 09 Sep 2026 | Primary respondents: 0 in the committed tracker | H0-H5 scores intentionally blank | PPT claims must remain traceable to evidence IDs.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Source files: DICE_GATE1_AUDIT_WORKBOOK.md, DICE_EVIDENCE_DATABASE.md, DICE_PRIMARY_RESEARCH_TRACKER.md.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APPENDIX | CREATOR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What the creator audit changes: proof capability is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591056"/>
            <a:ext cx="16459200" cy="4114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450" b="0" i="0">
                <a:solidFill>
                  <a:srgbClr val="675761"/>
                </a:solidFill>
                <a:latin typeface="Aptos"/>
              </a:rPr>
              <a:t>The opportunity is not to teach creators how to review beauty products. It is to make their useful proof portable, attributable and decision-ready.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95728"/>
            <a:ext cx="114300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0487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CCA-006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2267712"/>
            <a:ext cx="40690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2386584"/>
            <a:ext cx="3657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370730"/>
                </a:solidFill>
                <a:latin typeface="Aptos"/>
              </a:rPr>
              <a:t>Shade and skin-fit warning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63347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221628"/>
                </a:solidFill>
                <a:latin typeface="Aptos"/>
              </a:rPr>
              <a:t>Lakme Nude Twist was reported to wash out without a base.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67712"/>
            <a:ext cx="4663440" cy="80467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245059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Direct team-supplied manual observation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383280"/>
            <a:ext cx="1143000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92424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CCA-007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3255264"/>
            <a:ext cx="40690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40280" y="3374136"/>
            <a:ext cx="3657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370730"/>
                </a:solidFill>
                <a:latin typeface="Aptos"/>
              </a:rPr>
              <a:t>Viral product reality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362102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221628"/>
                </a:solidFill>
                <a:latin typeface="Aptos"/>
              </a:rPr>
              <a:t>Cult products were tested against Indian-skin shade and formula experience.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255264"/>
            <a:ext cx="4663440" cy="80467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3438144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Direct team-supplied manual observation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370832"/>
            <a:ext cx="1143000" cy="310896"/>
          </a:xfrm>
          <a:prstGeom prst="round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79976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CCA-010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4242816"/>
            <a:ext cx="40690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4361688"/>
            <a:ext cx="3657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370730"/>
                </a:solidFill>
                <a:latin typeface="Aptos"/>
              </a:rPr>
              <a:t>Budget quality is uneven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60857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221628"/>
                </a:solidFill>
                <a:latin typeface="Aptos"/>
              </a:rPr>
              <a:t>Zudio products showed strong and weak performers in the same ultra-budget line.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4242816"/>
            <a:ext cx="4663440" cy="80467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42569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Direct team-supplied manual observation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358384"/>
            <a:ext cx="1143000" cy="310896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67528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CCA-012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57400" y="5230368"/>
            <a:ext cx="40690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055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40280" y="5349240"/>
            <a:ext cx="3657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370730"/>
                </a:solidFill>
                <a:latin typeface="Aptos"/>
              </a:rPr>
              <a:t>Proof includes reliability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559612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221628"/>
                </a:solidFill>
                <a:latin typeface="Aptos"/>
              </a:rPr>
              <a:t>Foundation white cast and a failed pump were both visible quality risks.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5230368"/>
            <a:ext cx="4663440" cy="80467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5413248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Direct team-supplied manual observation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8" y="6345936"/>
            <a:ext cx="114300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6355080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CCA-013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57400" y="6217920"/>
            <a:ext cx="40690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40280" y="6336792"/>
            <a:ext cx="3657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370730"/>
                </a:solidFill>
                <a:latin typeface="Aptos"/>
              </a:rPr>
              <a:t>Business context matters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40280" y="65836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221628"/>
                </a:solidFill>
                <a:latin typeface="Aptos"/>
              </a:rPr>
              <a:t>Founder review connected product performance with commission and marketing claims.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5080" y="6217920"/>
            <a:ext cx="4663440" cy="80467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47104" y="640080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Financial figures require separate verification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7333488"/>
            <a:ext cx="1143000" cy="3108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734263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CCA-023/024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057400" y="7205472"/>
            <a:ext cx="40690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40280" y="7324344"/>
            <a:ext cx="3657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370730"/>
                </a:solidFill>
                <a:latin typeface="Aptos"/>
              </a:rPr>
              <a:t>Structured suitability is possible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40280" y="757123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221628"/>
                </a:solidFill>
                <a:latin typeface="Aptos"/>
              </a:rPr>
              <a:t>Dry-skin curation and professional undertone swatching make fit legible.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7205472"/>
            <a:ext cx="4663440" cy="80467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47104" y="738835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Contradicts a generic content-difficulty claim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75720" y="2267712"/>
            <a:ext cx="6144768" cy="5468112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77472" y="2587752"/>
            <a:ext cx="5440680" cy="32004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 Display"/>
              </a:rPr>
              <a:t>What this does not prove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31752" y="3090672"/>
            <a:ext cx="5349240" cy="2286000"/>
          </a:xfrm>
          <a:prstGeom prst="rect">
            <a:avLst/>
          </a:prstGeom>
          <a:noFill/>
        </p:spPr>
        <p:txBody>
          <a:bodyPr wrap="square" lIns="73152" rIns="36576" tIns="36576" bIns="18288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FFFFFF"/>
                </a:solidFill>
                <a:latin typeface="Aptos"/>
              </a:rPr>
              <a:t>• The videos are not Meesho-specific creator evidence.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FFFFFF"/>
                </a:solidFill>
                <a:latin typeface="Aptos"/>
              </a:rPr>
              <a:t>• Content quality does not establish click-through, conversion, repeat or earnings.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FFFFFF"/>
                </a:solidFill>
                <a:latin typeface="Aptos"/>
              </a:rPr>
              <a:t>• No exact line-level timestamps or screenshots are attached in the current workbook.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FFFFFF"/>
                </a:solidFill>
                <a:latin typeface="Aptos"/>
              </a:rPr>
              <a:t>• A creator proof gap at the Meesho PDP remains unverified because the PDP audit was blocked.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77472" y="5897880"/>
            <a:ext cx="5376672" cy="123444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978640" y="6126480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1628"/>
                </a:solidFill>
                <a:latin typeface="Aptos Display"/>
              </a:rPr>
              <a:t>Therefore: preserve the proof, test the handoff, and let the pilot decide whether the bridge is the winner.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Evidence tier: user-supplied manual audit layer; no independent replay claimed.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APPENDIX | COMPETITOR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Competitive benchmark: the missing pattern is measurable handoff.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591056"/>
            <a:ext cx="16459200" cy="4114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450" b="0" i="0">
                <a:solidFill>
                  <a:srgbClr val="675761"/>
                </a:solidFill>
                <a:latin typeface="Aptos"/>
              </a:rPr>
              <a:t>The workspace verifies one public-source flow capability, not five end-to-end platform journeys.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240280"/>
            <a:ext cx="2240280" cy="411480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1343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Discovery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2240280"/>
            <a:ext cx="224028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231343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Selection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68112" y="2240280"/>
            <a:ext cx="2240280" cy="411480"/>
          </a:xfrm>
          <a:prstGeom prst="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8112" y="231343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Info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27264" y="2240280"/>
            <a:ext cx="2240280" cy="411480"/>
          </a:xfrm>
          <a:prstGeom prst="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231343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Proof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86416" y="2240280"/>
            <a:ext cx="2240280" cy="411480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86416" y="231343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Shopping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45568" y="2240280"/>
            <a:ext cx="2240280" cy="411480"/>
          </a:xfrm>
          <a:prstGeom prst="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45568" y="231343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Attribution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904720" y="2240280"/>
            <a:ext cx="2240280" cy="411480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04720" y="231343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Earnings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017520"/>
            <a:ext cx="14173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026664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COMP-FLOW-001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2880360"/>
            <a:ext cx="4663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96312" y="3026664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YouTube Shopping official documentation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42048" y="2880360"/>
            <a:ext cx="3749039" cy="71323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4927" y="3026664"/>
            <a:ext cx="3401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 i="0">
                <a:solidFill>
                  <a:srgbClr val="370730"/>
                </a:solidFill>
                <a:latin typeface="Aptos"/>
              </a:rPr>
              <a:t>Public-source evidenced 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228832" y="2880360"/>
            <a:ext cx="63825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11712" y="3026664"/>
            <a:ext cx="5989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0" i="0">
                <a:solidFill>
                  <a:srgbClr val="221628"/>
                </a:solidFill>
                <a:latin typeface="Aptos"/>
              </a:rPr>
              <a:t>No replayed creator account or dashboard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3959352"/>
            <a:ext cx="141732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3968496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COMP-001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31720" y="3822192"/>
            <a:ext cx="4663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96312" y="3968496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Myntra Ultimate Glam Clan post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42048" y="3822192"/>
            <a:ext cx="3749039" cy="71323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24927" y="3968496"/>
            <a:ext cx="3401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 i="0">
                <a:solidFill>
                  <a:srgbClr val="370730"/>
                </a:solidFill>
                <a:latin typeface="Aptos"/>
              </a:rPr>
              <a:t>Public program artifact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228832" y="3822192"/>
            <a:ext cx="63825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11712" y="3968496"/>
            <a:ext cx="5989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0" i="0">
                <a:solidFill>
                  <a:srgbClr val="221628"/>
                </a:solidFill>
                <a:latin typeface="Aptos"/>
              </a:rPr>
              <a:t>Scale message, not conversion flow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8" y="4901184"/>
            <a:ext cx="141732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4910328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COMP-002/003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31720" y="4764024"/>
            <a:ext cx="4663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96312" y="4910328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Google India partner announcement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42048" y="4764024"/>
            <a:ext cx="3749039" cy="71323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24927" y="4910328"/>
            <a:ext cx="3401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 i="0">
                <a:solidFill>
                  <a:srgbClr val="370730"/>
                </a:solidFill>
                <a:latin typeface="Aptos"/>
              </a:rPr>
              <a:t>Public partner artifact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228832" y="4764024"/>
            <a:ext cx="63825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11712" y="4910328"/>
            <a:ext cx="5989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0" i="0">
                <a:solidFill>
                  <a:srgbClr val="221628"/>
                </a:solidFill>
                <a:latin typeface="Aptos"/>
              </a:rPr>
              <a:t>Nykaa/Purplle/Flipkart access, not full journeys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" y="5843016"/>
            <a:ext cx="141732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9808" y="585216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COMP-004/005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31720" y="5705856"/>
            <a:ext cx="4663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96312" y="585216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Amazon / Instagram-Meta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42048" y="5705856"/>
            <a:ext cx="3749039" cy="713232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24927" y="5852160"/>
            <a:ext cx="3401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 i="0">
                <a:solidFill>
                  <a:srgbClr val="370730"/>
                </a:solidFill>
                <a:latin typeface="Aptos"/>
              </a:rPr>
              <a:t>Pending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228832" y="5705856"/>
            <a:ext cx="63825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411712" y="5852160"/>
            <a:ext cx="5989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0" i="0">
                <a:solidFill>
                  <a:srgbClr val="221628"/>
                </a:solidFill>
                <a:latin typeface="Aptos"/>
              </a:rPr>
              <a:t>No workspace source record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49808" y="6967728"/>
            <a:ext cx="16870680" cy="1225296"/>
          </a:xfrm>
          <a:prstGeom prst="roundRect">
            <a:avLst/>
          </a:prstGeom>
          <a:solidFill>
            <a:srgbClr val="F6E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7552" y="7242048"/>
            <a:ext cx="1636775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370730"/>
                </a:solidFill>
                <a:latin typeface="Aptos Display"/>
              </a:rPr>
              <a:t>Strategic implication: Meesho does not need to copy every competitor feature. It needs one measurable bridge from creator proof to commerce, then the interaction data to build better matching.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Evidence: COMP-FLOW-001, COMP-001, COMP-002, COMP-003. The workbook explicitly keeps COMP-004 and COMP-005 pending.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APPENDIX | FUTURE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The long-term moat is a learning loop, not a sample box.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591056"/>
            <a:ext cx="16459200" cy="4114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450" b="0" i="0">
                <a:solidFill>
                  <a:srgbClr val="675761"/>
                </a:solidFill>
                <a:latin typeface="Aptos"/>
              </a:rPr>
              <a:t>The 30-day bridge is deliberately small. Its output is the interaction data required for Creator x SKU x Audience matching.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286000"/>
            <a:ext cx="3977639" cy="19019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286000"/>
            <a:ext cx="3977639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2322576"/>
            <a:ext cx="3813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BRAND -&gt; 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615184"/>
            <a:ext cx="3776471" cy="150876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300" b="0" i="0">
                <a:solidFill>
                  <a:srgbClr val="221628"/>
                </a:solidFill>
                <a:latin typeface="Aptos"/>
              </a:rPr>
              <a:t>Which products have a clear use case, margin, authenticity and repeat potential?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2286000"/>
            <a:ext cx="3977639" cy="19019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7760" y="2286000"/>
            <a:ext cx="3977639" cy="246888"/>
          </a:xfrm>
          <a:prstGeom prst="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6" y="2322576"/>
            <a:ext cx="3813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CREATOR -&gt; 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615184"/>
            <a:ext cx="3776471" cy="150876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300" b="0" i="0">
                <a:solidFill>
                  <a:srgbClr val="221628"/>
                </a:solidFill>
                <a:latin typeface="Aptos"/>
              </a:rPr>
              <a:t>Which creator can credibly demonstrate this product and invest the effort?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5712" y="2286000"/>
            <a:ext cx="3977639" cy="19019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25712" y="2286000"/>
            <a:ext cx="3977639" cy="246888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2322576"/>
            <a:ext cx="3813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SKU -&gt; AUDIENCE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2615184"/>
            <a:ext cx="3776471" cy="150876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300" b="0" i="0">
                <a:solidFill>
                  <a:srgbClr val="221628"/>
                </a:solidFill>
                <a:latin typeface="Aptos"/>
              </a:rPr>
              <a:t>Which audience cohort has the right concern, budget and context?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313664" y="2286000"/>
            <a:ext cx="3977639" cy="19019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313664" y="2286000"/>
            <a:ext cx="3977639" cy="246888"/>
          </a:xfrm>
          <a:prstGeom prst="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5960" y="2322576"/>
            <a:ext cx="3813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PROOF -&gt; 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14248" y="2615184"/>
            <a:ext cx="3776471" cy="150876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300" b="0" i="0">
                <a:solidFill>
                  <a:srgbClr val="221628"/>
                </a:solidFill>
                <a:latin typeface="Aptos"/>
              </a:rPr>
              <a:t>Which evidence reduces uncertainty enough to click, buy and reorder?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" y="4892040"/>
            <a:ext cx="2468880" cy="822960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2" y="5001768"/>
            <a:ext cx="2322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" y="5248656"/>
            <a:ext cx="23225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Creator, SKU and audience signals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4892040"/>
            <a:ext cx="2468880" cy="822960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5001768"/>
            <a:ext cx="2322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Access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5248656"/>
            <a:ext cx="23225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Targeted sample or product trial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932920" y="4892040"/>
            <a:ext cx="2468880" cy="8229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6072" y="5001768"/>
            <a:ext cx="2322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Create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06072" y="5248656"/>
            <a:ext cx="23225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Structured proof asset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" y="6217920"/>
            <a:ext cx="2468880" cy="822960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3272" y="6327648"/>
            <a:ext cx="2322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Surface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" y="6574536"/>
            <a:ext cx="23225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Contextual Meesho decision point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46520" y="6217920"/>
            <a:ext cx="2468880" cy="822960"/>
          </a:xfrm>
          <a:prstGeom prst="round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9672" y="6327648"/>
            <a:ext cx="2322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Measure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9672" y="6574536"/>
            <a:ext cx="23225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Click, order, return, repeat, earnings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932920" y="6217920"/>
            <a:ext cx="2468880" cy="822960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006072" y="6327648"/>
            <a:ext cx="23225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6072" y="6574536"/>
            <a:ext cx="23225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Improve future allocation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9808" y="7863840"/>
            <a:ext cx="16870680" cy="786384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8065008"/>
            <a:ext cx="16413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370730"/>
                </a:solidFill>
                <a:latin typeface="Aptos Display"/>
              </a:rPr>
              <a:t>Do not build the engine first. Build the first data-generating wedge that earns the right to build it.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Future-state architecture; not a claim that Meesho currently has these matching signals.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APPENDIX | ECONOMICS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Measurement turns the idea into a business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591056"/>
            <a:ext cx="16459200" cy="4114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450" b="0" i="0">
                <a:solidFill>
                  <a:srgbClr val="675761"/>
                </a:solidFill>
                <a:latin typeface="Aptos"/>
              </a:rPr>
              <a:t>We will size the opportunity from observed pilot deltas, not invented market-response percentages.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240280"/>
            <a:ext cx="16870680" cy="932688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636775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BPC creator NMV = active creators x relevant posts x click-through x PDP-to-order conversion x AOV x repeat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703320"/>
            <a:ext cx="3172968" cy="12618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3703320"/>
            <a:ext cx="3172968" cy="228600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76732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ACTIVE CREATORS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96512"/>
            <a:ext cx="2788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21628"/>
                </a:solidFill>
                <a:latin typeface="Aptos"/>
              </a:rPr>
              <a:t>sample-to-post
creator retention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05656" y="3703320"/>
            <a:ext cx="3172968" cy="12618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5656" y="3703320"/>
            <a:ext cx="3172968" cy="228600"/>
          </a:xfrm>
          <a:prstGeom prst="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376732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RELEVANT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8536" y="4096512"/>
            <a:ext cx="2788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21628"/>
                </a:solidFill>
                <a:latin typeface="Aptos"/>
              </a:rPr>
              <a:t>proof completeness
content usefulness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1504" y="3703320"/>
            <a:ext cx="3172968" cy="12618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61504" y="3703320"/>
            <a:ext cx="3172968" cy="228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2088" y="376732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CLICK-THROUGH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4384" y="4096512"/>
            <a:ext cx="2788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21628"/>
                </a:solidFill>
                <a:latin typeface="Aptos"/>
              </a:rPr>
              <a:t>tag/CTA quality
proof placement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17352" y="3703320"/>
            <a:ext cx="3172968" cy="12618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817352" y="3703320"/>
            <a:ext cx="3172968" cy="228600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17936" y="376732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0232" y="4096512"/>
            <a:ext cx="2788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21628"/>
                </a:solidFill>
                <a:latin typeface="Aptos"/>
              </a:rPr>
              <a:t>fit confidence
PDP decision support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173200" y="3703320"/>
            <a:ext cx="3172968" cy="12618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73200" y="3703320"/>
            <a:ext cx="3172968" cy="228600"/>
          </a:xfrm>
          <a:prstGeom prst="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73784" y="376732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REPEAT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356080" y="4096512"/>
            <a:ext cx="2788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21628"/>
                </a:solidFill>
                <a:latin typeface="Aptos"/>
              </a:rPr>
              <a:t>quality
returns
reorder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5394960"/>
            <a:ext cx="8183879" cy="2331720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669280"/>
            <a:ext cx="7589520" cy="256032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700" b="1" i="0">
                <a:solidFill>
                  <a:srgbClr val="370730"/>
                </a:solidFill>
                <a:latin typeface="Aptos Display"/>
              </a:rPr>
              <a:t>Pilot instrumentation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6089904"/>
            <a:ext cx="7543800" cy="1234440"/>
          </a:xfrm>
          <a:prstGeom prst="rect">
            <a:avLst/>
          </a:prstGeom>
          <a:noFill/>
        </p:spPr>
        <p:txBody>
          <a:bodyPr wrap="square" lIns="73152" rIns="36576" tIns="36576" bIns="18288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Unique creator/SKU/audience IDs.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Tagged click and order events.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Sample cost, creator time and payout.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Returns, rating and repeat cohort.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53728" y="5394960"/>
            <a:ext cx="8366760" cy="233172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28048" y="5669280"/>
            <a:ext cx="7772400" cy="256032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700" b="1" i="0">
                <a:solidFill>
                  <a:srgbClr val="370730"/>
                </a:solidFill>
                <a:latin typeface="Aptos Display"/>
              </a:rPr>
              <a:t>What we can say after the pilot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6089904"/>
            <a:ext cx="7589520" cy="1234440"/>
          </a:xfrm>
          <a:prstGeom prst="rect">
            <a:avLst/>
          </a:prstGeom>
          <a:noFill/>
        </p:spPr>
        <p:txBody>
          <a:bodyPr wrap="square" lIns="73152" rIns="36576" tIns="36576" bIns="18288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Which proof fields correlate with clicks and orders.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Which creators produce efficient, credible proof.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Whether targeted samples beat broad gifting.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300">
                <a:solidFill>
                  <a:srgbClr val="221628"/>
                </a:solidFill>
                <a:latin typeface="Aptos"/>
              </a:rPr>
              <a:t>• Whether the bridge deserves scale or should be killed.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No uplift is claimed in this deck. The pilot is the mechanism for generating defensible NMV and retention estimates.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66928" y="475488"/>
            <a:ext cx="2331720" cy="3108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84632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SLAYED IT | IIT GUWAHATI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401800" y="475488"/>
            <a:ext cx="31546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01800" y="48463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APPENDIX |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96112"/>
            <a:ext cx="16550640" cy="6400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700" b="1" i="0">
                <a:solidFill>
                  <a:srgbClr val="370730"/>
                </a:solidFill>
                <a:latin typeface="Aptos Display"/>
              </a:rPr>
              <a:t>Risks, kill criteria and the path to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591056"/>
            <a:ext cx="16459200" cy="41148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1450" b="0" i="0">
                <a:solidFill>
                  <a:srgbClr val="675761"/>
                </a:solidFill>
                <a:latin typeface="Aptos"/>
              </a:rPr>
              <a:t>A credible case does not hide what could disprove it. It pre-commits to learning and stopping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212848"/>
            <a:ext cx="8001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055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414016"/>
            <a:ext cx="2057400" cy="310896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423160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ptos"/>
              </a:rPr>
              <a:t>PROOF DOES NOT MOVE 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377440"/>
            <a:ext cx="5257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Kill or redesign the bridge; investigate price, quality, delivery and PDP 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118104"/>
            <a:ext cx="8001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" y="3319272"/>
            <a:ext cx="205740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28416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ptos"/>
              </a:rPr>
              <a:t>CREATORS REJECT THE EFFORT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3282696"/>
            <a:ext cx="5257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Shift toward economics, sampling design or lighter proof formats.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23360"/>
            <a:ext cx="8001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" y="4224528"/>
            <a:ext cx="2057400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23367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ptos"/>
              </a:rPr>
              <a:t>SAMPLE COST IS UNECONOMIC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4187952"/>
            <a:ext cx="5257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Narrow SKU set and require seller co-funding or higher repeat potential.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4928616"/>
            <a:ext cx="8001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5129784"/>
            <a:ext cx="2057400" cy="3108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138928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ptos"/>
              </a:rPr>
              <a:t>PDP CANNOT CARRY PROOF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5093208"/>
            <a:ext cx="5257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Start with storefront/landing surfaces while product integration is built.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833872"/>
            <a:ext cx="8001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2688" y="6035040"/>
            <a:ext cx="2057400" cy="310896"/>
          </a:xfrm>
          <a:prstGeom prst="round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6044184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ptos"/>
              </a:rPr>
              <a:t>QUALITY/RETURNS DOMINATE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5998464"/>
            <a:ext cx="5257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1" i="0">
                <a:solidFill>
                  <a:srgbClr val="221628"/>
                </a:solidFill>
                <a:latin typeface="Aptos"/>
              </a:rPr>
              <a:t>Move H0 to the front; solve assortment/authenticity before creator scale.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20" y="2212848"/>
            <a:ext cx="8430768" cy="44348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91472" y="2542032"/>
            <a:ext cx="7818120" cy="274320"/>
          </a:xfrm>
          <a:prstGeom prst="rect">
            <a:avLst/>
          </a:prstGeom>
          <a:noFill/>
        </p:spPr>
        <p:txBody>
          <a:bodyPr wrap="square" lIns="54864" rIns="54864" tIns="35661" bIns="19202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 Display"/>
              </a:rPr>
              <a:t>30 / 60 / 90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91472" y="3063240"/>
            <a:ext cx="1234440" cy="3108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91472" y="307238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30 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4512" y="3081528"/>
            <a:ext cx="6172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Pilot the Beauty Proof Bridge on a controlled SKU and creator cohort.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91472" y="4023360"/>
            <a:ext cx="1234440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40325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60 DAYS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4512" y="4041648"/>
            <a:ext cx="6172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Add reusable proof fields, creator attribution and seller reporting.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91472" y="4983480"/>
            <a:ext cx="123444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91472" y="499262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90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54512" y="5001768"/>
            <a:ext cx="6172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i="0">
                <a:solidFill>
                  <a:srgbClr val="FFFFFF"/>
                </a:solidFill>
                <a:latin typeface="Aptos"/>
              </a:rPr>
              <a:t>Use observed interaction data to allocate samples and rank creator-SKU-audience matches.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91472" y="5824728"/>
            <a:ext cx="7699248" cy="50292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74352" y="59436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221628"/>
                </a:solidFill>
                <a:latin typeface="Aptos"/>
              </a:rPr>
              <a:t>Scale only after treatment beats control on the pre-registered handoff metrics.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9808" y="6986016"/>
            <a:ext cx="16870680" cy="932688"/>
          </a:xfrm>
          <a:prstGeom prst="roundRect">
            <a:avLst/>
          </a:prstGeom>
          <a:solidFill>
            <a:srgbClr val="F6E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7251192"/>
            <a:ext cx="1636775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 b="1" i="0">
                <a:solidFill>
                  <a:srgbClr val="370730"/>
                </a:solidFill>
                <a:latin typeface="Aptos Display"/>
              </a:rPr>
              <a:t>North-star outcome: more BPC NMV and stronger creator retention by making credible proof measurable, reusable and increasingly better matched.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Team: Samiksha Mitra | Slayed it | IIT Guwahati | Sources and limitations documented in the research workspace.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